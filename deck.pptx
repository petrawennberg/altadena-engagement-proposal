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Rectangle 1"/>
          <p:cNvSpPr/>
          <p:nvPr/>
        </p:nvSpPr>
        <p:spPr>
          <a:xfrm>
            <a:off x="5632704" y="2286000"/>
            <a:ext cx="914400" cy="45720"/>
          </a:xfrm>
          <a:prstGeom prst="rect">
            <a:avLst/>
          </a:prstGeom>
          <a:solidFill>
            <a:srgbClr val="E59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920240"/>
            <a:ext cx="10908792" cy="274320"/>
          </a:xfrm>
          <a:prstGeom prst="rect">
            <a:avLst/>
          </a:prstGeom>
          <a:noFill/>
        </p:spPr>
        <p:txBody>
          <a:bodyPr wrap="square" lIns="0" rIns="0" tIns="0" bIns="0">
            <a:spAutoFit/>
          </a:bodyPr>
          <a:lstStyle/>
          <a:p>
            <a:pPr algn="ctr">
              <a:lnSpc>
                <a:spcPct val="120000"/>
              </a:lnSpc>
            </a:pPr>
            <a:r>
              <a:rPr sz="1100" b="1" i="0">
                <a:solidFill>
                  <a:srgbClr val="E5905A"/>
                </a:solidFill>
                <a:latin typeface="DM Sans"/>
              </a:rPr>
              <a:t>A COLLABORATION</a:t>
            </a:r>
          </a:p>
        </p:txBody>
      </p:sp>
      <p:sp>
        <p:nvSpPr>
          <p:cNvPr id="4" name="TextBox 3"/>
          <p:cNvSpPr txBox="1"/>
          <p:nvPr/>
        </p:nvSpPr>
        <p:spPr>
          <a:xfrm>
            <a:off x="914400" y="2560320"/>
            <a:ext cx="10360152" cy="2286000"/>
          </a:xfrm>
          <a:prstGeom prst="rect">
            <a:avLst/>
          </a:prstGeom>
          <a:noFill/>
        </p:spPr>
        <p:txBody>
          <a:bodyPr wrap="square" lIns="0" rIns="0" tIns="0" bIns="0">
            <a:spAutoFit/>
          </a:bodyPr>
          <a:lstStyle/>
          <a:p>
            <a:pPr algn="ctr">
              <a:lnSpc>
                <a:spcPct val="105000"/>
              </a:lnSpc>
            </a:pPr>
            <a:r>
              <a:rPr sz="4800" b="0" i="0">
                <a:solidFill>
                  <a:srgbClr val="2E3D26"/>
                </a:solidFill>
                <a:latin typeface="DM Serif Display"/>
              </a:rPr>
              <a:t>A community engagement strategy for Altadena rebuild</a:t>
            </a:r>
          </a:p>
        </p:txBody>
      </p:sp>
      <p:sp>
        <p:nvSpPr>
          <p:cNvPr id="5" name="TextBox 4"/>
          <p:cNvSpPr txBox="1"/>
          <p:nvPr/>
        </p:nvSpPr>
        <p:spPr>
          <a:xfrm>
            <a:off x="640080" y="4937760"/>
            <a:ext cx="10908792" cy="365760"/>
          </a:xfrm>
          <a:prstGeom prst="rect">
            <a:avLst/>
          </a:prstGeom>
          <a:noFill/>
        </p:spPr>
        <p:txBody>
          <a:bodyPr wrap="square" lIns="0" rIns="0" tIns="0" bIns="0">
            <a:spAutoFit/>
          </a:bodyPr>
          <a:lstStyle/>
          <a:p>
            <a:pPr algn="ctr">
              <a:lnSpc>
                <a:spcPct val="120000"/>
              </a:lnSpc>
            </a:pPr>
            <a:r>
              <a:rPr sz="1400" b="1" i="0">
                <a:solidFill>
                  <a:srgbClr val="2E3D26"/>
                </a:solidFill>
                <a:latin typeface="DM Sans"/>
              </a:rPr>
              <a:t>Altadena Village  ·  CoLab  ·  Alting  ·  Altagether</a:t>
            </a:r>
          </a:p>
        </p:txBody>
      </p:sp>
      <p:sp>
        <p:nvSpPr>
          <p:cNvPr id="6" name="TextBox 5"/>
          <p:cNvSpPr txBox="1"/>
          <p:nvPr/>
        </p:nvSpPr>
        <p:spPr>
          <a:xfrm>
            <a:off x="640080" y="5760720"/>
            <a:ext cx="10908792" cy="274320"/>
          </a:xfrm>
          <a:prstGeom prst="rect">
            <a:avLst/>
          </a:prstGeom>
          <a:noFill/>
        </p:spPr>
        <p:txBody>
          <a:bodyPr wrap="square" lIns="0" rIns="0" tIns="0" bIns="0">
            <a:spAutoFit/>
          </a:bodyPr>
          <a:lstStyle/>
          <a:p>
            <a:pPr algn="ctr">
              <a:lnSpc>
                <a:spcPct val="120000"/>
              </a:lnSpc>
            </a:pPr>
            <a:r>
              <a:rPr sz="1000" b="0" i="0">
                <a:solidFill>
                  <a:srgbClr val="5A6953"/>
                </a:solidFill>
                <a:latin typeface="DM Sans"/>
              </a:rPr>
              <a:t>PRESENTED TO CAPS  ·  MAY 21,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spAutoFit/>
          </a:bodyPr>
          <a:lstStyle/>
          <a:p>
            <a:pPr>
              <a:lnSpc>
                <a:spcPct val="100000"/>
              </a:lnSpc>
            </a:pPr>
            <a:r>
              <a:rPr sz="1100" b="1" i="0">
                <a:solidFill>
                  <a:srgbClr val="E5905A"/>
                </a:solidFill>
                <a:latin typeface="DM Sans"/>
              </a:rPr>
              <a:t>WHY WE'RE HERE</a:t>
            </a:r>
          </a:p>
        </p:txBody>
      </p:sp>
      <p:sp>
        <p:nvSpPr>
          <p:cNvPr id="3" name="TextBox 2"/>
          <p:cNvSpPr txBox="1"/>
          <p:nvPr/>
        </p:nvSpPr>
        <p:spPr>
          <a:xfrm>
            <a:off x="640080" y="1828800"/>
            <a:ext cx="10908792" cy="2743200"/>
          </a:xfrm>
          <a:prstGeom prst="rect">
            <a:avLst/>
          </a:prstGeom>
          <a:noFill/>
        </p:spPr>
        <p:txBody>
          <a:bodyPr wrap="square" lIns="0" rIns="0" tIns="0" bIns="0">
            <a:spAutoFit/>
          </a:bodyPr>
          <a:lstStyle/>
          <a:p>
            <a:pPr>
              <a:lnSpc>
                <a:spcPct val="115000"/>
              </a:lnSpc>
            </a:pPr>
            <a:r>
              <a:rPr sz="3600" b="0" i="0">
                <a:solidFill>
                  <a:srgbClr val="2E3D26"/>
                </a:solidFill>
                <a:latin typeface="DM Serif Display"/>
              </a:rPr>
              <a:t>Altadena's commercial and public spaces are being rebuilt. There's no process for the community to shape what they become and see the impact of their input.</a:t>
            </a:r>
          </a:p>
        </p:txBody>
      </p:sp>
      <p:cxnSp>
        <p:nvCxnSpPr>
          <p:cNvPr id="4" name="Connector 3"/>
          <p:cNvCxnSpPr/>
          <p:nvPr/>
        </p:nvCxnSpPr>
        <p:spPr>
          <a:xfrm>
            <a:off x="640080" y="6446520"/>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6519672"/>
            <a:ext cx="10972800" cy="274320"/>
          </a:xfrm>
          <a:prstGeom prst="rect">
            <a:avLst/>
          </a:prstGeom>
          <a:noFill/>
        </p:spPr>
        <p:txBody>
          <a:bodyPr wrap="square" lIns="0" rIns="0" tIns="0" bIns="0">
            <a:spAutoFit/>
          </a:bodyPr>
          <a:lstStyle/>
          <a:p>
            <a:pPr algn="ctr">
              <a:lnSpc>
                <a:spcPct val="100000"/>
              </a:lnSpc>
            </a:pPr>
            <a:r>
              <a:rPr sz="900" b="0" i="0">
                <a:solidFill>
                  <a:srgbClr val="5A6953"/>
                </a:solidFill>
                <a:latin typeface="DM Sans"/>
              </a:rPr>
              <a:t>ALTADENA VILLAGE  ·  COLAB  ·  ALTING  ·  ALTAGETHER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spAutoFit/>
          </a:bodyPr>
          <a:lstStyle/>
          <a:p>
            <a:pPr>
              <a:lnSpc>
                <a:spcPct val="100000"/>
              </a:lnSpc>
            </a:pPr>
            <a:r>
              <a:rPr sz="1100" b="1" i="0">
                <a:solidFill>
                  <a:srgbClr val="E5905A"/>
                </a:solidFill>
                <a:latin typeface="DM Sans"/>
              </a:rPr>
              <a:t>WHY WE'RE HERE</a:t>
            </a:r>
          </a:p>
        </p:txBody>
      </p:sp>
      <p:sp>
        <p:nvSpPr>
          <p:cNvPr id="3" name="TextBox 2"/>
          <p:cNvSpPr txBox="1"/>
          <p:nvPr/>
        </p:nvSpPr>
        <p:spPr>
          <a:xfrm>
            <a:off x="640080" y="777240"/>
            <a:ext cx="10972800" cy="1097280"/>
          </a:xfrm>
          <a:prstGeom prst="rect">
            <a:avLst/>
          </a:prstGeom>
          <a:noFill/>
        </p:spPr>
        <p:txBody>
          <a:bodyPr wrap="square" lIns="0" rIns="0" tIns="0" bIns="0">
            <a:spAutoFit/>
          </a:bodyPr>
          <a:lstStyle/>
          <a:p>
            <a:pPr>
              <a:lnSpc>
                <a:spcPct val="110000"/>
              </a:lnSpc>
            </a:pPr>
            <a:r>
              <a:rPr sz="2800" b="0" i="0">
                <a:solidFill>
                  <a:srgbClr val="2E3D26"/>
                </a:solidFill>
                <a:latin typeface="DM Serif Display"/>
              </a:rPr>
              <a:t>Separate schedules, no coordination</a:t>
            </a:r>
          </a:p>
        </p:txBody>
      </p:sp>
      <p:sp>
        <p:nvSpPr>
          <p:cNvPr id="4" name="Rectangle 3"/>
          <p:cNvSpPr/>
          <p:nvPr/>
        </p:nvSpPr>
        <p:spPr>
          <a:xfrm>
            <a:off x="2468880" y="1645920"/>
            <a:ext cx="4399926" cy="228600"/>
          </a:xfrm>
          <a:prstGeom prst="rect">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68880" y="1645920"/>
            <a:ext cx="4418214" cy="228600"/>
          </a:xfrm>
          <a:prstGeom prst="rect">
            <a:avLst/>
          </a:prstGeom>
          <a:noFill/>
        </p:spPr>
        <p:txBody>
          <a:bodyPr wrap="square" anchor="ctr" lIns="0" rIns="0" tIns="0" bIns="0">
            <a:spAutoFit/>
          </a:bodyPr>
          <a:lstStyle/>
          <a:p>
            <a:pPr algn="ctr">
              <a:lnSpc>
                <a:spcPct val="120000"/>
              </a:lnSpc>
            </a:pPr>
            <a:r>
              <a:rPr sz="900" b="1" i="0">
                <a:solidFill>
                  <a:srgbClr val="2E3D26"/>
                </a:solidFill>
                <a:latin typeface="DM Sans"/>
              </a:rPr>
              <a:t>2026</a:t>
            </a:r>
          </a:p>
        </p:txBody>
      </p:sp>
      <p:sp>
        <p:nvSpPr>
          <p:cNvPr id="6" name="Rectangle 5"/>
          <p:cNvSpPr/>
          <p:nvPr/>
        </p:nvSpPr>
        <p:spPr>
          <a:xfrm>
            <a:off x="6887094" y="1645920"/>
            <a:ext cx="5301857" cy="228600"/>
          </a:xfrm>
          <a:prstGeom prst="rect">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87094" y="1645920"/>
            <a:ext cx="5301857" cy="228600"/>
          </a:xfrm>
          <a:prstGeom prst="rect">
            <a:avLst/>
          </a:prstGeom>
          <a:noFill/>
        </p:spPr>
        <p:txBody>
          <a:bodyPr wrap="square" anchor="ctr" lIns="0" rIns="0" tIns="0" bIns="0">
            <a:spAutoFit/>
          </a:bodyPr>
          <a:lstStyle/>
          <a:p>
            <a:pPr algn="ctr">
              <a:lnSpc>
                <a:spcPct val="120000"/>
              </a:lnSpc>
            </a:pPr>
            <a:r>
              <a:rPr sz="900" b="1" i="0">
                <a:solidFill>
                  <a:srgbClr val="2E3D26"/>
                </a:solidFill>
                <a:latin typeface="DM Sans"/>
              </a:rPr>
              <a:t>2027</a:t>
            </a:r>
          </a:p>
        </p:txBody>
      </p:sp>
      <p:sp>
        <p:nvSpPr>
          <p:cNvPr id="8" name="TextBox 7"/>
          <p:cNvSpPr txBox="1"/>
          <p:nvPr/>
        </p:nvSpPr>
        <p:spPr>
          <a:xfrm>
            <a:off x="2468880"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MAR</a:t>
            </a:r>
          </a:p>
        </p:txBody>
      </p:sp>
      <p:sp>
        <p:nvSpPr>
          <p:cNvPr id="9" name="TextBox 8"/>
          <p:cNvSpPr txBox="1"/>
          <p:nvPr/>
        </p:nvSpPr>
        <p:spPr>
          <a:xfrm>
            <a:off x="2910701"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APR</a:t>
            </a:r>
          </a:p>
        </p:txBody>
      </p:sp>
      <p:sp>
        <p:nvSpPr>
          <p:cNvPr id="10" name="TextBox 9"/>
          <p:cNvSpPr txBox="1"/>
          <p:nvPr/>
        </p:nvSpPr>
        <p:spPr>
          <a:xfrm>
            <a:off x="3352522"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MAY</a:t>
            </a:r>
          </a:p>
        </p:txBody>
      </p:sp>
      <p:sp>
        <p:nvSpPr>
          <p:cNvPr id="11" name="TextBox 10"/>
          <p:cNvSpPr txBox="1"/>
          <p:nvPr/>
        </p:nvSpPr>
        <p:spPr>
          <a:xfrm>
            <a:off x="3794344"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JUN</a:t>
            </a:r>
          </a:p>
        </p:txBody>
      </p:sp>
      <p:sp>
        <p:nvSpPr>
          <p:cNvPr id="12" name="TextBox 11"/>
          <p:cNvSpPr txBox="1"/>
          <p:nvPr/>
        </p:nvSpPr>
        <p:spPr>
          <a:xfrm>
            <a:off x="4236165"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JUL</a:t>
            </a:r>
          </a:p>
        </p:txBody>
      </p:sp>
      <p:sp>
        <p:nvSpPr>
          <p:cNvPr id="13" name="TextBox 12"/>
          <p:cNvSpPr txBox="1"/>
          <p:nvPr/>
        </p:nvSpPr>
        <p:spPr>
          <a:xfrm>
            <a:off x="4677987"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AUG</a:t>
            </a:r>
          </a:p>
        </p:txBody>
      </p:sp>
      <p:sp>
        <p:nvSpPr>
          <p:cNvPr id="14" name="TextBox 13"/>
          <p:cNvSpPr txBox="1"/>
          <p:nvPr/>
        </p:nvSpPr>
        <p:spPr>
          <a:xfrm>
            <a:off x="5119808"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SEP</a:t>
            </a:r>
          </a:p>
        </p:txBody>
      </p:sp>
      <p:sp>
        <p:nvSpPr>
          <p:cNvPr id="15" name="TextBox 14"/>
          <p:cNvSpPr txBox="1"/>
          <p:nvPr/>
        </p:nvSpPr>
        <p:spPr>
          <a:xfrm>
            <a:off x="5561630"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OCT</a:t>
            </a:r>
          </a:p>
        </p:txBody>
      </p:sp>
      <p:sp>
        <p:nvSpPr>
          <p:cNvPr id="16" name="TextBox 15"/>
          <p:cNvSpPr txBox="1"/>
          <p:nvPr/>
        </p:nvSpPr>
        <p:spPr>
          <a:xfrm>
            <a:off x="6003451"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NOV</a:t>
            </a:r>
          </a:p>
        </p:txBody>
      </p:sp>
      <p:sp>
        <p:nvSpPr>
          <p:cNvPr id="17" name="TextBox 16"/>
          <p:cNvSpPr txBox="1"/>
          <p:nvPr/>
        </p:nvSpPr>
        <p:spPr>
          <a:xfrm>
            <a:off x="6445273"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DEC</a:t>
            </a:r>
          </a:p>
        </p:txBody>
      </p:sp>
      <p:sp>
        <p:nvSpPr>
          <p:cNvPr id="18" name="TextBox 17"/>
          <p:cNvSpPr txBox="1"/>
          <p:nvPr/>
        </p:nvSpPr>
        <p:spPr>
          <a:xfrm>
            <a:off x="6887094"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JAN</a:t>
            </a:r>
          </a:p>
        </p:txBody>
      </p:sp>
      <p:sp>
        <p:nvSpPr>
          <p:cNvPr id="19" name="TextBox 18"/>
          <p:cNvSpPr txBox="1"/>
          <p:nvPr/>
        </p:nvSpPr>
        <p:spPr>
          <a:xfrm>
            <a:off x="7328916"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FEB</a:t>
            </a:r>
          </a:p>
        </p:txBody>
      </p:sp>
      <p:sp>
        <p:nvSpPr>
          <p:cNvPr id="20" name="TextBox 19"/>
          <p:cNvSpPr txBox="1"/>
          <p:nvPr/>
        </p:nvSpPr>
        <p:spPr>
          <a:xfrm>
            <a:off x="7770737"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MAR</a:t>
            </a:r>
          </a:p>
        </p:txBody>
      </p:sp>
      <p:sp>
        <p:nvSpPr>
          <p:cNvPr id="21" name="TextBox 20"/>
          <p:cNvSpPr txBox="1"/>
          <p:nvPr/>
        </p:nvSpPr>
        <p:spPr>
          <a:xfrm>
            <a:off x="8212558"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APR</a:t>
            </a:r>
          </a:p>
        </p:txBody>
      </p:sp>
      <p:sp>
        <p:nvSpPr>
          <p:cNvPr id="22" name="TextBox 21"/>
          <p:cNvSpPr txBox="1"/>
          <p:nvPr/>
        </p:nvSpPr>
        <p:spPr>
          <a:xfrm>
            <a:off x="8654380"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MAY</a:t>
            </a:r>
          </a:p>
        </p:txBody>
      </p:sp>
      <p:sp>
        <p:nvSpPr>
          <p:cNvPr id="23" name="TextBox 22"/>
          <p:cNvSpPr txBox="1"/>
          <p:nvPr/>
        </p:nvSpPr>
        <p:spPr>
          <a:xfrm>
            <a:off x="9096201"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JUN</a:t>
            </a:r>
          </a:p>
        </p:txBody>
      </p:sp>
      <p:sp>
        <p:nvSpPr>
          <p:cNvPr id="24" name="TextBox 23"/>
          <p:cNvSpPr txBox="1"/>
          <p:nvPr/>
        </p:nvSpPr>
        <p:spPr>
          <a:xfrm>
            <a:off x="9538023"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JUL</a:t>
            </a:r>
          </a:p>
        </p:txBody>
      </p:sp>
      <p:sp>
        <p:nvSpPr>
          <p:cNvPr id="25" name="TextBox 24"/>
          <p:cNvSpPr txBox="1"/>
          <p:nvPr/>
        </p:nvSpPr>
        <p:spPr>
          <a:xfrm>
            <a:off x="9979844"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AUG</a:t>
            </a:r>
          </a:p>
        </p:txBody>
      </p:sp>
      <p:sp>
        <p:nvSpPr>
          <p:cNvPr id="26" name="TextBox 25"/>
          <p:cNvSpPr txBox="1"/>
          <p:nvPr/>
        </p:nvSpPr>
        <p:spPr>
          <a:xfrm>
            <a:off x="10421666"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SEP</a:t>
            </a:r>
          </a:p>
        </p:txBody>
      </p:sp>
      <p:sp>
        <p:nvSpPr>
          <p:cNvPr id="27" name="TextBox 26"/>
          <p:cNvSpPr txBox="1"/>
          <p:nvPr/>
        </p:nvSpPr>
        <p:spPr>
          <a:xfrm>
            <a:off x="10863487"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OCT</a:t>
            </a:r>
          </a:p>
        </p:txBody>
      </p:sp>
      <p:sp>
        <p:nvSpPr>
          <p:cNvPr id="28" name="TextBox 27"/>
          <p:cNvSpPr txBox="1"/>
          <p:nvPr/>
        </p:nvSpPr>
        <p:spPr>
          <a:xfrm>
            <a:off x="11305309"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NOV</a:t>
            </a:r>
          </a:p>
        </p:txBody>
      </p:sp>
      <p:sp>
        <p:nvSpPr>
          <p:cNvPr id="29" name="TextBox 28"/>
          <p:cNvSpPr txBox="1"/>
          <p:nvPr/>
        </p:nvSpPr>
        <p:spPr>
          <a:xfrm>
            <a:off x="11747130"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DEC</a:t>
            </a:r>
          </a:p>
        </p:txBody>
      </p:sp>
      <p:cxnSp>
        <p:nvCxnSpPr>
          <p:cNvPr id="30" name="Connector 29"/>
          <p:cNvCxnSpPr/>
          <p:nvPr/>
        </p:nvCxnSpPr>
        <p:spPr>
          <a:xfrm>
            <a:off x="2468880" y="2139696"/>
            <a:ext cx="972007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2212848"/>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CIP</a:t>
            </a:r>
          </a:p>
        </p:txBody>
      </p:sp>
      <p:sp>
        <p:nvSpPr>
          <p:cNvPr id="32" name="TextBox 31"/>
          <p:cNvSpPr txBox="1"/>
          <p:nvPr/>
        </p:nvSpPr>
        <p:spPr>
          <a:xfrm>
            <a:off x="640080" y="2359152"/>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LA County Public Works</a:t>
            </a:r>
          </a:p>
        </p:txBody>
      </p:sp>
      <p:sp>
        <p:nvSpPr>
          <p:cNvPr id="33" name="Rounded Rectangle 32"/>
          <p:cNvSpPr/>
          <p:nvPr/>
        </p:nvSpPr>
        <p:spPr>
          <a:xfrm>
            <a:off x="2468880" y="2212848"/>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478024" y="2231136"/>
            <a:ext cx="865354" cy="219456"/>
          </a:xfrm>
          <a:prstGeom prst="roundRect">
            <a:avLst>
              <a:gd name="adj" fmla="val 6000"/>
            </a:avLst>
          </a:prstGeom>
          <a:solidFill>
            <a:srgbClr val="E59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32888" y="2231136"/>
            <a:ext cx="755626" cy="219456"/>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Survey</a:t>
            </a:r>
          </a:p>
        </p:txBody>
      </p:sp>
      <p:sp>
        <p:nvSpPr>
          <p:cNvPr id="36" name="Rounded Rectangle 35"/>
          <p:cNvSpPr/>
          <p:nvPr/>
        </p:nvSpPr>
        <p:spPr>
          <a:xfrm>
            <a:off x="3803488" y="2231136"/>
            <a:ext cx="4841748" cy="219456"/>
          </a:xfrm>
          <a:prstGeom prst="roundRect">
            <a:avLst>
              <a:gd name="adj" fmla="val 6000"/>
            </a:avLst>
          </a:prstGeom>
          <a:solidFill>
            <a:srgbClr val="FAF6F0"/>
          </a:solidFill>
          <a:ln w="19050">
            <a:solidFill>
              <a:srgbClr val="E59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58352" y="2231136"/>
            <a:ext cx="4732020" cy="219456"/>
          </a:xfrm>
          <a:prstGeom prst="rect">
            <a:avLst/>
          </a:prstGeom>
          <a:noFill/>
        </p:spPr>
        <p:txBody>
          <a:bodyPr wrap="square" anchor="ctr" lIns="0" rIns="0" tIns="0" bIns="0">
            <a:spAutoFit/>
          </a:bodyPr>
          <a:lstStyle/>
          <a:p>
            <a:pPr>
              <a:lnSpc>
                <a:spcPct val="120000"/>
              </a:lnSpc>
            </a:pPr>
            <a:r>
              <a:rPr sz="800" b="1" i="1">
                <a:solidFill>
                  <a:srgbClr val="E5905A"/>
                </a:solidFill>
                <a:latin typeface="DM Sans"/>
              </a:rPr>
              <a:t>Comment period TBD</a:t>
            </a:r>
          </a:p>
        </p:txBody>
      </p:sp>
      <p:sp>
        <p:nvSpPr>
          <p:cNvPr id="38" name="TextBox 37"/>
          <p:cNvSpPr txBox="1"/>
          <p:nvPr/>
        </p:nvSpPr>
        <p:spPr>
          <a:xfrm>
            <a:off x="640080" y="2505456"/>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Regional Planning</a:t>
            </a:r>
          </a:p>
        </p:txBody>
      </p:sp>
      <p:sp>
        <p:nvSpPr>
          <p:cNvPr id="39" name="TextBox 38"/>
          <p:cNvSpPr txBox="1"/>
          <p:nvPr/>
        </p:nvSpPr>
        <p:spPr>
          <a:xfrm>
            <a:off x="640080" y="2651760"/>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WSGVAP refresh</a:t>
            </a:r>
          </a:p>
        </p:txBody>
      </p:sp>
      <p:sp>
        <p:nvSpPr>
          <p:cNvPr id="40" name="Rounded Rectangle 39"/>
          <p:cNvSpPr/>
          <p:nvPr/>
        </p:nvSpPr>
        <p:spPr>
          <a:xfrm>
            <a:off x="2468880" y="2505456"/>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245309" y="2523744"/>
            <a:ext cx="6609033" cy="219456"/>
          </a:xfrm>
          <a:prstGeom prst="roundRect">
            <a:avLst>
              <a:gd name="adj" fmla="val 6000"/>
            </a:avLst>
          </a:prstGeom>
          <a:solidFill>
            <a:srgbClr val="FAF6F0"/>
          </a:solidFill>
          <a:ln w="19050">
            <a:solidFill>
              <a:srgbClr val="7A8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00173" y="2523744"/>
            <a:ext cx="6499305" cy="219456"/>
          </a:xfrm>
          <a:prstGeom prst="rect">
            <a:avLst/>
          </a:prstGeom>
          <a:noFill/>
        </p:spPr>
        <p:txBody>
          <a:bodyPr wrap="square" anchor="ctr" lIns="0" rIns="0" tIns="0" bIns="0">
            <a:spAutoFit/>
          </a:bodyPr>
          <a:lstStyle/>
          <a:p>
            <a:pPr>
              <a:lnSpc>
                <a:spcPct val="120000"/>
              </a:lnSpc>
            </a:pPr>
            <a:r>
              <a:rPr sz="800" b="1" i="1">
                <a:solidFill>
                  <a:srgbClr val="7A8A6E"/>
                </a:solidFill>
                <a:latin typeface="DM Sans"/>
              </a:rPr>
              <a:t>Refresh cycle TBD</a:t>
            </a:r>
          </a:p>
        </p:txBody>
      </p:sp>
      <p:sp>
        <p:nvSpPr>
          <p:cNvPr id="43" name="TextBox 42"/>
          <p:cNvSpPr txBox="1"/>
          <p:nvPr/>
        </p:nvSpPr>
        <p:spPr>
          <a:xfrm>
            <a:off x="640080" y="2798064"/>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Sanitation</a:t>
            </a:r>
          </a:p>
        </p:txBody>
      </p:sp>
      <p:sp>
        <p:nvSpPr>
          <p:cNvPr id="44" name="TextBox 43"/>
          <p:cNvSpPr txBox="1"/>
          <p:nvPr/>
        </p:nvSpPr>
        <p:spPr>
          <a:xfrm>
            <a:off x="640080" y="2944368"/>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LA County sewer</a:t>
            </a:r>
          </a:p>
        </p:txBody>
      </p:sp>
      <p:sp>
        <p:nvSpPr>
          <p:cNvPr id="45" name="Rounded Rectangle 44"/>
          <p:cNvSpPr/>
          <p:nvPr/>
        </p:nvSpPr>
        <p:spPr>
          <a:xfrm>
            <a:off x="2468880" y="2798064"/>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478024" y="2816352"/>
            <a:ext cx="9701784" cy="219456"/>
          </a:xfrm>
          <a:prstGeom prst="roundRect">
            <a:avLst>
              <a:gd name="adj" fmla="val 6000"/>
            </a:avLst>
          </a:prstGeom>
          <a:solidFill>
            <a:srgbClr val="7A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32888" y="2816352"/>
            <a:ext cx="9592056" cy="219456"/>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Ongoing rebuild interaction</a:t>
            </a:r>
          </a:p>
        </p:txBody>
      </p:sp>
      <p:sp>
        <p:nvSpPr>
          <p:cNvPr id="48" name="TextBox 47"/>
          <p:cNvSpPr txBox="1"/>
          <p:nvPr/>
        </p:nvSpPr>
        <p:spPr>
          <a:xfrm>
            <a:off x="640080" y="3090672"/>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Water utilities</a:t>
            </a:r>
          </a:p>
        </p:txBody>
      </p:sp>
      <p:sp>
        <p:nvSpPr>
          <p:cNvPr id="49" name="TextBox 48"/>
          <p:cNvSpPr txBox="1"/>
          <p:nvPr/>
        </p:nvSpPr>
        <p:spPr>
          <a:xfrm>
            <a:off x="640080" y="3236976"/>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Las Flores · Lincoln · Rubio Cañon</a:t>
            </a:r>
          </a:p>
        </p:txBody>
      </p:sp>
      <p:sp>
        <p:nvSpPr>
          <p:cNvPr id="50" name="Rounded Rectangle 49"/>
          <p:cNvSpPr/>
          <p:nvPr/>
        </p:nvSpPr>
        <p:spPr>
          <a:xfrm>
            <a:off x="2468880" y="3090672"/>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2478024" y="3108960"/>
            <a:ext cx="9701784" cy="219456"/>
          </a:xfrm>
          <a:prstGeom prst="roundRect">
            <a:avLst>
              <a:gd name="adj" fmla="val 6000"/>
            </a:avLst>
          </a:prstGeom>
          <a:solidFill>
            <a:srgbClr val="7A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532888" y="3108960"/>
            <a:ext cx="9592056" cy="219456"/>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Ongoing restoration &amp; planning</a:t>
            </a:r>
          </a:p>
        </p:txBody>
      </p:sp>
      <p:sp>
        <p:nvSpPr>
          <p:cNvPr id="53" name="TextBox 52"/>
          <p:cNvSpPr txBox="1"/>
          <p:nvPr/>
        </p:nvSpPr>
        <p:spPr>
          <a:xfrm>
            <a:off x="640080" y="3383280"/>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Flood Control</a:t>
            </a:r>
          </a:p>
        </p:txBody>
      </p:sp>
      <p:sp>
        <p:nvSpPr>
          <p:cNvPr id="54" name="TextBox 53"/>
          <p:cNvSpPr txBox="1"/>
          <p:nvPr/>
        </p:nvSpPr>
        <p:spPr>
          <a:xfrm>
            <a:off x="640080" y="3529584"/>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LA County stormwater</a:t>
            </a:r>
          </a:p>
        </p:txBody>
      </p:sp>
      <p:sp>
        <p:nvSpPr>
          <p:cNvPr id="55" name="Rounded Rectangle 54"/>
          <p:cNvSpPr/>
          <p:nvPr/>
        </p:nvSpPr>
        <p:spPr>
          <a:xfrm>
            <a:off x="2468880" y="3383280"/>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803488" y="3401568"/>
            <a:ext cx="5725390" cy="219456"/>
          </a:xfrm>
          <a:prstGeom prst="roundRect">
            <a:avLst>
              <a:gd name="adj" fmla="val 6000"/>
            </a:avLst>
          </a:prstGeom>
          <a:solidFill>
            <a:srgbClr val="FAF6F0"/>
          </a:solidFill>
          <a:ln w="19050">
            <a:solidFill>
              <a:srgbClr val="7A8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858352" y="3401568"/>
            <a:ext cx="5615662" cy="219456"/>
          </a:xfrm>
          <a:prstGeom prst="rect">
            <a:avLst/>
          </a:prstGeom>
          <a:noFill/>
        </p:spPr>
        <p:txBody>
          <a:bodyPr wrap="square" anchor="ctr" lIns="0" rIns="0" tIns="0" bIns="0">
            <a:spAutoFit/>
          </a:bodyPr>
          <a:lstStyle/>
          <a:p>
            <a:pPr>
              <a:lnSpc>
                <a:spcPct val="120000"/>
              </a:lnSpc>
            </a:pPr>
            <a:r>
              <a:rPr sz="800" b="1" i="1">
                <a:solidFill>
                  <a:srgbClr val="7A8A6E"/>
                </a:solidFill>
                <a:latin typeface="DM Sans"/>
              </a:rPr>
              <a:t>Stormwater windows TBD</a:t>
            </a:r>
          </a:p>
        </p:txBody>
      </p:sp>
      <p:sp>
        <p:nvSpPr>
          <p:cNvPr id="58" name="TextBox 57"/>
          <p:cNvSpPr txBox="1"/>
          <p:nvPr/>
        </p:nvSpPr>
        <p:spPr>
          <a:xfrm>
            <a:off x="640080" y="3675888"/>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Edison / SCE</a:t>
            </a:r>
          </a:p>
        </p:txBody>
      </p:sp>
      <p:sp>
        <p:nvSpPr>
          <p:cNvPr id="59" name="Rounded Rectangle 58"/>
          <p:cNvSpPr/>
          <p:nvPr/>
        </p:nvSpPr>
        <p:spPr>
          <a:xfrm>
            <a:off x="2468880" y="3675888"/>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2478024" y="3694176"/>
            <a:ext cx="9701784" cy="219456"/>
          </a:xfrm>
          <a:prstGeom prst="roundRect">
            <a:avLst>
              <a:gd name="adj" fmla="val 6000"/>
            </a:avLst>
          </a:prstGeom>
          <a:solidFill>
            <a:srgbClr val="7A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532888" y="3694176"/>
            <a:ext cx="9592056" cy="219456"/>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Undergrounding &amp; restoration — ongoing</a:t>
            </a:r>
          </a:p>
        </p:txBody>
      </p:sp>
      <p:sp>
        <p:nvSpPr>
          <p:cNvPr id="62" name="TextBox 61"/>
          <p:cNvSpPr txBox="1"/>
          <p:nvPr/>
        </p:nvSpPr>
        <p:spPr>
          <a:xfrm>
            <a:off x="640080" y="3968496"/>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SoCalGas</a:t>
            </a:r>
          </a:p>
        </p:txBody>
      </p:sp>
      <p:sp>
        <p:nvSpPr>
          <p:cNvPr id="63" name="Rounded Rectangle 62"/>
          <p:cNvSpPr/>
          <p:nvPr/>
        </p:nvSpPr>
        <p:spPr>
          <a:xfrm>
            <a:off x="2468880" y="3968496"/>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2478024" y="3986784"/>
            <a:ext cx="9701784" cy="219456"/>
          </a:xfrm>
          <a:prstGeom prst="roundRect">
            <a:avLst>
              <a:gd name="adj" fmla="val 6000"/>
            </a:avLst>
          </a:prstGeom>
          <a:solidFill>
            <a:srgbClr val="7A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532888" y="3986784"/>
            <a:ext cx="9592056" cy="219456"/>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Gas restoration ongoing</a:t>
            </a:r>
          </a:p>
        </p:txBody>
      </p:sp>
      <p:sp>
        <p:nvSpPr>
          <p:cNvPr id="66" name="TextBox 65"/>
          <p:cNvSpPr txBox="1"/>
          <p:nvPr/>
        </p:nvSpPr>
        <p:spPr>
          <a:xfrm>
            <a:off x="640080" y="4261104"/>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PUSD</a:t>
            </a:r>
          </a:p>
        </p:txBody>
      </p:sp>
      <p:sp>
        <p:nvSpPr>
          <p:cNvPr id="67" name="TextBox 66"/>
          <p:cNvSpPr txBox="1"/>
          <p:nvPr/>
        </p:nvSpPr>
        <p:spPr>
          <a:xfrm>
            <a:off x="640080" y="4407408"/>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School-site rebuild</a:t>
            </a:r>
          </a:p>
        </p:txBody>
      </p:sp>
      <p:sp>
        <p:nvSpPr>
          <p:cNvPr id="68" name="Rounded Rectangle 67"/>
          <p:cNvSpPr/>
          <p:nvPr/>
        </p:nvSpPr>
        <p:spPr>
          <a:xfrm>
            <a:off x="2468880" y="4261104"/>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4245309" y="4279392"/>
            <a:ext cx="5725390" cy="219456"/>
          </a:xfrm>
          <a:prstGeom prst="roundRect">
            <a:avLst>
              <a:gd name="adj" fmla="val 6000"/>
            </a:avLst>
          </a:prstGeom>
          <a:solidFill>
            <a:srgbClr val="FAF6F0"/>
          </a:solidFill>
          <a:ln w="19050">
            <a:solidFill>
              <a:srgbClr val="E59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300173" y="4279392"/>
            <a:ext cx="5615662" cy="219456"/>
          </a:xfrm>
          <a:prstGeom prst="rect">
            <a:avLst/>
          </a:prstGeom>
          <a:noFill/>
        </p:spPr>
        <p:txBody>
          <a:bodyPr wrap="square" anchor="ctr" lIns="0" rIns="0" tIns="0" bIns="0">
            <a:spAutoFit/>
          </a:bodyPr>
          <a:lstStyle/>
          <a:p>
            <a:pPr>
              <a:lnSpc>
                <a:spcPct val="120000"/>
              </a:lnSpc>
            </a:pPr>
            <a:r>
              <a:rPr sz="800" b="1" i="1">
                <a:solidFill>
                  <a:srgbClr val="E5905A"/>
                </a:solidFill>
                <a:latin typeface="DM Sans"/>
              </a:rPr>
              <a:t>Decisions TBD</a:t>
            </a:r>
          </a:p>
        </p:txBody>
      </p:sp>
      <p:sp>
        <p:nvSpPr>
          <p:cNvPr id="71" name="TextBox 70"/>
          <p:cNvSpPr txBox="1"/>
          <p:nvPr/>
        </p:nvSpPr>
        <p:spPr>
          <a:xfrm>
            <a:off x="640080" y="4553712"/>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Parks &amp; Rec</a:t>
            </a:r>
          </a:p>
        </p:txBody>
      </p:sp>
      <p:sp>
        <p:nvSpPr>
          <p:cNvPr id="72" name="TextBox 71"/>
          <p:cNvSpPr txBox="1"/>
          <p:nvPr/>
        </p:nvSpPr>
        <p:spPr>
          <a:xfrm>
            <a:off x="640080" y="4700016"/>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LA County multi-benefit</a:t>
            </a:r>
          </a:p>
        </p:txBody>
      </p:sp>
      <p:sp>
        <p:nvSpPr>
          <p:cNvPr id="73" name="Rounded Rectangle 72"/>
          <p:cNvSpPr/>
          <p:nvPr/>
        </p:nvSpPr>
        <p:spPr>
          <a:xfrm>
            <a:off x="2468880" y="4553712"/>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4687131" y="4572000"/>
            <a:ext cx="6167212" cy="219456"/>
          </a:xfrm>
          <a:prstGeom prst="roundRect">
            <a:avLst>
              <a:gd name="adj" fmla="val 6000"/>
            </a:avLst>
          </a:prstGeom>
          <a:solidFill>
            <a:srgbClr val="FAF6F0"/>
          </a:solidFill>
          <a:ln w="19050">
            <a:solidFill>
              <a:srgbClr val="7A8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741995" y="4572000"/>
            <a:ext cx="6057484" cy="219456"/>
          </a:xfrm>
          <a:prstGeom prst="rect">
            <a:avLst/>
          </a:prstGeom>
          <a:noFill/>
        </p:spPr>
        <p:txBody>
          <a:bodyPr wrap="square" anchor="ctr" lIns="0" rIns="0" tIns="0" bIns="0">
            <a:spAutoFit/>
          </a:bodyPr>
          <a:lstStyle/>
          <a:p>
            <a:pPr>
              <a:lnSpc>
                <a:spcPct val="120000"/>
              </a:lnSpc>
            </a:pPr>
            <a:r>
              <a:rPr sz="800" b="1" i="1">
                <a:solidFill>
                  <a:srgbClr val="7A8A6E"/>
                </a:solidFill>
                <a:latin typeface="DM Sans"/>
              </a:rPr>
              <a:t>Parks &amp; green corridors TBD</a:t>
            </a:r>
          </a:p>
        </p:txBody>
      </p:sp>
      <p:sp>
        <p:nvSpPr>
          <p:cNvPr id="76" name="TextBox 75"/>
          <p:cNvSpPr txBox="1"/>
          <p:nvPr/>
        </p:nvSpPr>
        <p:spPr>
          <a:xfrm>
            <a:off x="640080" y="4846320"/>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Tree restoration</a:t>
            </a:r>
          </a:p>
        </p:txBody>
      </p:sp>
      <p:sp>
        <p:nvSpPr>
          <p:cNvPr id="77" name="TextBox 76"/>
          <p:cNvSpPr txBox="1"/>
          <p:nvPr/>
        </p:nvSpPr>
        <p:spPr>
          <a:xfrm>
            <a:off x="640080" y="4992624"/>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LA County · TreePeople · Altadena Bloom</a:t>
            </a:r>
          </a:p>
        </p:txBody>
      </p:sp>
      <p:sp>
        <p:nvSpPr>
          <p:cNvPr id="78" name="Rounded Rectangle 77"/>
          <p:cNvSpPr/>
          <p:nvPr/>
        </p:nvSpPr>
        <p:spPr>
          <a:xfrm>
            <a:off x="2468880" y="4846320"/>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4687131" y="4864608"/>
            <a:ext cx="7492676" cy="219456"/>
          </a:xfrm>
          <a:prstGeom prst="roundRect">
            <a:avLst>
              <a:gd name="adj" fmla="val 6000"/>
            </a:avLst>
          </a:prstGeom>
          <a:solidFill>
            <a:srgbClr val="FAF6F0"/>
          </a:solidFill>
          <a:ln w="19050">
            <a:solidFill>
              <a:srgbClr val="7A8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741995" y="4864608"/>
            <a:ext cx="7382948" cy="219456"/>
          </a:xfrm>
          <a:prstGeom prst="rect">
            <a:avLst/>
          </a:prstGeom>
          <a:noFill/>
        </p:spPr>
        <p:txBody>
          <a:bodyPr wrap="square" anchor="ctr" lIns="0" rIns="0" tIns="0" bIns="0">
            <a:spAutoFit/>
          </a:bodyPr>
          <a:lstStyle/>
          <a:p>
            <a:pPr>
              <a:lnSpc>
                <a:spcPct val="120000"/>
              </a:lnSpc>
            </a:pPr>
            <a:r>
              <a:rPr sz="800" b="1" i="1">
                <a:solidFill>
                  <a:srgbClr val="7A8A6E"/>
                </a:solidFill>
                <a:latin typeface="DM Sans"/>
              </a:rPr>
              <a:t>Urban canopy restoration TBD</a:t>
            </a:r>
          </a:p>
        </p:txBody>
      </p:sp>
      <p:sp>
        <p:nvSpPr>
          <p:cNvPr id="81" name="TextBox 80"/>
          <p:cNvSpPr txBox="1"/>
          <p:nvPr/>
        </p:nvSpPr>
        <p:spPr>
          <a:xfrm>
            <a:off x="640080" y="5138928"/>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Commercial developers</a:t>
            </a:r>
          </a:p>
        </p:txBody>
      </p:sp>
      <p:sp>
        <p:nvSpPr>
          <p:cNvPr id="82" name="TextBox 81"/>
          <p:cNvSpPr txBox="1"/>
          <p:nvPr/>
        </p:nvSpPr>
        <p:spPr>
          <a:xfrm>
            <a:off x="640080" y="5285232"/>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Various private projects</a:t>
            </a:r>
          </a:p>
        </p:txBody>
      </p:sp>
      <p:sp>
        <p:nvSpPr>
          <p:cNvPr id="83" name="Rounded Rectangle 82"/>
          <p:cNvSpPr/>
          <p:nvPr/>
        </p:nvSpPr>
        <p:spPr>
          <a:xfrm>
            <a:off x="2468880" y="5138928"/>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2478024" y="5157216"/>
            <a:ext cx="4841748" cy="219456"/>
          </a:xfrm>
          <a:prstGeom prst="roundRect">
            <a:avLst>
              <a:gd name="adj" fmla="val 6000"/>
            </a:avLst>
          </a:prstGeom>
          <a:solidFill>
            <a:srgbClr val="7A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532888" y="5157216"/>
            <a:ext cx="4732020" cy="219456"/>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Active rebuild projects ongoing</a:t>
            </a:r>
          </a:p>
        </p:txBody>
      </p:sp>
      <p:sp>
        <p:nvSpPr>
          <p:cNvPr id="86" name="Rounded Rectangle 85"/>
          <p:cNvSpPr/>
          <p:nvPr/>
        </p:nvSpPr>
        <p:spPr>
          <a:xfrm>
            <a:off x="7338060" y="5157216"/>
            <a:ext cx="4841748" cy="219456"/>
          </a:xfrm>
          <a:prstGeom prst="roundRect">
            <a:avLst>
              <a:gd name="adj" fmla="val 6000"/>
            </a:avLst>
          </a:prstGeom>
          <a:solidFill>
            <a:srgbClr val="FAF6F0"/>
          </a:solidFill>
          <a:ln w="19050">
            <a:solidFill>
              <a:srgbClr val="7A8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392924" y="5157216"/>
            <a:ext cx="4732020" cy="219456"/>
          </a:xfrm>
          <a:prstGeom prst="rect">
            <a:avLst/>
          </a:prstGeom>
          <a:noFill/>
        </p:spPr>
        <p:txBody>
          <a:bodyPr wrap="square" anchor="ctr" lIns="0" rIns="0" tIns="0" bIns="0">
            <a:spAutoFit/>
          </a:bodyPr>
          <a:lstStyle/>
          <a:p>
            <a:pPr>
              <a:lnSpc>
                <a:spcPct val="120000"/>
              </a:lnSpc>
            </a:pPr>
            <a:r>
              <a:rPr sz="800" b="1" i="1">
                <a:solidFill>
                  <a:srgbClr val="7A8A6E"/>
                </a:solidFill>
                <a:latin typeface="DM Sans"/>
              </a:rPr>
              <a:t>New permits &amp; projects TBD</a:t>
            </a:r>
          </a:p>
        </p:txBody>
      </p:sp>
      <p:sp>
        <p:nvSpPr>
          <p:cNvPr id="88" name="TextBox 87"/>
          <p:cNvSpPr txBox="1"/>
          <p:nvPr/>
        </p:nvSpPr>
        <p:spPr>
          <a:xfrm>
            <a:off x="640080" y="5431536"/>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Paradigm</a:t>
            </a:r>
          </a:p>
        </p:txBody>
      </p:sp>
      <p:sp>
        <p:nvSpPr>
          <p:cNvPr id="89" name="TextBox 88"/>
          <p:cNvSpPr txBox="1"/>
          <p:nvPr/>
        </p:nvSpPr>
        <p:spPr>
          <a:xfrm>
            <a:off x="640080" y="5577840"/>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Edison's outreach consultant</a:t>
            </a:r>
          </a:p>
        </p:txBody>
      </p:sp>
      <p:sp>
        <p:nvSpPr>
          <p:cNvPr id="90" name="Rounded Rectangle 89"/>
          <p:cNvSpPr/>
          <p:nvPr/>
        </p:nvSpPr>
        <p:spPr>
          <a:xfrm>
            <a:off x="2468880" y="5431536"/>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2478024" y="5449824"/>
            <a:ext cx="9701784" cy="219456"/>
          </a:xfrm>
          <a:prstGeom prst="roundRect">
            <a:avLst>
              <a:gd name="adj" fmla="val 6000"/>
            </a:avLst>
          </a:prstGeom>
          <a:solidFill>
            <a:srgbClr val="FAF6F0"/>
          </a:solidFill>
          <a:ln w="19050">
            <a:solidFill>
              <a:srgbClr val="E59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532888" y="5449824"/>
            <a:ext cx="9592056" cy="219456"/>
          </a:xfrm>
          <a:prstGeom prst="rect">
            <a:avLst/>
          </a:prstGeom>
          <a:noFill/>
        </p:spPr>
        <p:txBody>
          <a:bodyPr wrap="square" anchor="ctr" lIns="0" rIns="0" tIns="0" bIns="0">
            <a:spAutoFit/>
          </a:bodyPr>
          <a:lstStyle/>
          <a:p>
            <a:pPr>
              <a:lnSpc>
                <a:spcPct val="120000"/>
              </a:lnSpc>
            </a:pPr>
            <a:r>
              <a:rPr sz="800" b="1" i="1">
                <a:solidFill>
                  <a:srgbClr val="E5905A"/>
                </a:solidFill>
                <a:latin typeface="DM Sans"/>
              </a:rPr>
              <a:t>Engagement windows TBD</a:t>
            </a:r>
          </a:p>
        </p:txBody>
      </p:sp>
      <p:sp>
        <p:nvSpPr>
          <p:cNvPr id="93" name="TextBox 92"/>
          <p:cNvSpPr txBox="1"/>
          <p:nvPr/>
        </p:nvSpPr>
        <p:spPr>
          <a:xfrm>
            <a:off x="640080" y="5724144"/>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Toole</a:t>
            </a:r>
          </a:p>
        </p:txBody>
      </p:sp>
      <p:sp>
        <p:nvSpPr>
          <p:cNvPr id="94" name="TextBox 93"/>
          <p:cNvSpPr txBox="1"/>
          <p:nvPr/>
        </p:nvSpPr>
        <p:spPr>
          <a:xfrm>
            <a:off x="640080" y="5870448"/>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LA County's planning consultant</a:t>
            </a:r>
          </a:p>
        </p:txBody>
      </p:sp>
      <p:sp>
        <p:nvSpPr>
          <p:cNvPr id="95" name="Rounded Rectangle 94"/>
          <p:cNvSpPr/>
          <p:nvPr/>
        </p:nvSpPr>
        <p:spPr>
          <a:xfrm>
            <a:off x="2468880" y="5724144"/>
            <a:ext cx="9720072" cy="256032"/>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2478024" y="5742432"/>
            <a:ext cx="2190819" cy="219456"/>
          </a:xfrm>
          <a:prstGeom prst="roundRect">
            <a:avLst>
              <a:gd name="adj" fmla="val 6000"/>
            </a:avLst>
          </a:prstGeom>
          <a:solidFill>
            <a:srgbClr val="2E3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532888" y="5742432"/>
            <a:ext cx="2081091" cy="219456"/>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Master plan in progress</a:t>
            </a:r>
          </a:p>
        </p:txBody>
      </p:sp>
      <p:sp>
        <p:nvSpPr>
          <p:cNvPr id="98" name="Rounded Rectangle 97"/>
          <p:cNvSpPr/>
          <p:nvPr/>
        </p:nvSpPr>
        <p:spPr>
          <a:xfrm>
            <a:off x="4687131" y="5742432"/>
            <a:ext cx="7492676" cy="219456"/>
          </a:xfrm>
          <a:prstGeom prst="roundRect">
            <a:avLst>
              <a:gd name="adj" fmla="val 6000"/>
            </a:avLst>
          </a:prstGeom>
          <a:solidFill>
            <a:srgbClr val="FAF6F0"/>
          </a:solidFill>
          <a:ln w="19050">
            <a:solidFill>
              <a:srgbClr val="E590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741995" y="5742432"/>
            <a:ext cx="7382948" cy="219456"/>
          </a:xfrm>
          <a:prstGeom prst="rect">
            <a:avLst/>
          </a:prstGeom>
          <a:noFill/>
        </p:spPr>
        <p:txBody>
          <a:bodyPr wrap="square" anchor="ctr" lIns="0" rIns="0" tIns="0" bIns="0">
            <a:spAutoFit/>
          </a:bodyPr>
          <a:lstStyle/>
          <a:p>
            <a:pPr>
              <a:lnSpc>
                <a:spcPct val="120000"/>
              </a:lnSpc>
            </a:pPr>
            <a:r>
              <a:rPr sz="800" b="1" i="1">
                <a:solidFill>
                  <a:srgbClr val="E5905A"/>
                </a:solidFill>
                <a:latin typeface="DM Sans"/>
              </a:rPr>
              <a:t>No engagement scheduled</a:t>
            </a:r>
          </a:p>
        </p:txBody>
      </p:sp>
      <p:sp>
        <p:nvSpPr>
          <p:cNvPr id="100" name="Rounded Rectangle 99"/>
          <p:cNvSpPr/>
          <p:nvPr/>
        </p:nvSpPr>
        <p:spPr>
          <a:xfrm>
            <a:off x="640080" y="6089904"/>
            <a:ext cx="11548872" cy="502920"/>
          </a:xfrm>
          <a:prstGeom prst="roundRect">
            <a:avLst>
              <a:gd name="adj" fmla="val 6000"/>
            </a:avLst>
          </a:prstGeom>
          <a:solidFill>
            <a:srgbClr val="FB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22960" y="6126480"/>
            <a:ext cx="1280160" cy="164592"/>
          </a:xfrm>
          <a:prstGeom prst="rect">
            <a:avLst/>
          </a:prstGeom>
          <a:noFill/>
        </p:spPr>
        <p:txBody>
          <a:bodyPr wrap="square" lIns="0" rIns="0" tIns="0" bIns="0">
            <a:spAutoFit/>
          </a:bodyPr>
          <a:lstStyle/>
          <a:p>
            <a:pPr>
              <a:lnSpc>
                <a:spcPct val="120000"/>
              </a:lnSpc>
            </a:pPr>
            <a:r>
              <a:rPr sz="800" b="1" i="0">
                <a:solidFill>
                  <a:srgbClr val="E5905A"/>
                </a:solidFill>
                <a:latin typeface="DM Sans"/>
              </a:rPr>
              <a:t>AND THE PFA</a:t>
            </a:r>
          </a:p>
        </p:txBody>
      </p:sp>
      <p:sp>
        <p:nvSpPr>
          <p:cNvPr id="102" name="TextBox 101"/>
          <p:cNvSpPr txBox="1"/>
          <p:nvPr/>
        </p:nvSpPr>
        <p:spPr>
          <a:xfrm>
            <a:off x="822960" y="6291072"/>
            <a:ext cx="11183112" cy="292608"/>
          </a:xfrm>
          <a:prstGeom prst="rect">
            <a:avLst/>
          </a:prstGeom>
          <a:noFill/>
        </p:spPr>
        <p:txBody>
          <a:bodyPr wrap="square" lIns="0" rIns="0" tIns="0" bIns="0">
            <a:spAutoFit/>
          </a:bodyPr>
          <a:lstStyle/>
          <a:p>
            <a:pPr>
              <a:lnSpc>
                <a:spcPct val="130000"/>
              </a:lnSpc>
            </a:pPr>
            <a:r>
              <a:rPr sz="900" b="0" i="0">
                <a:solidFill>
                  <a:srgbClr val="2E3D26"/>
                </a:solidFill>
                <a:latin typeface="DM Sans"/>
              </a:rPr>
              <a:t>The Public Financing Authority has convened — but hasn't held the meetings required by its own bylaws. The engagement standard adopted at those meetings will be the default for every project above.</a:t>
            </a:r>
          </a:p>
        </p:txBody>
      </p:sp>
      <p:cxnSp>
        <p:nvCxnSpPr>
          <p:cNvPr id="103" name="Connector 102"/>
          <p:cNvCxnSpPr/>
          <p:nvPr/>
        </p:nvCxnSpPr>
        <p:spPr>
          <a:xfrm>
            <a:off x="640080" y="6446520"/>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640080" y="6519672"/>
            <a:ext cx="10972800" cy="274320"/>
          </a:xfrm>
          <a:prstGeom prst="rect">
            <a:avLst/>
          </a:prstGeom>
          <a:noFill/>
        </p:spPr>
        <p:txBody>
          <a:bodyPr wrap="square" lIns="0" rIns="0" tIns="0" bIns="0">
            <a:spAutoFit/>
          </a:bodyPr>
          <a:lstStyle/>
          <a:p>
            <a:pPr algn="ctr">
              <a:lnSpc>
                <a:spcPct val="100000"/>
              </a:lnSpc>
            </a:pPr>
            <a:r>
              <a:rPr sz="900" b="0" i="0">
                <a:solidFill>
                  <a:srgbClr val="5A6953"/>
                </a:solidFill>
                <a:latin typeface="DM Sans"/>
              </a:rPr>
              <a:t>ALTADENA VILLAGE  ·  COLAB  ·  ALTING  ·  ALTAGETHER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spAutoFit/>
          </a:bodyPr>
          <a:lstStyle/>
          <a:p>
            <a:pPr>
              <a:lnSpc>
                <a:spcPct val="100000"/>
              </a:lnSpc>
            </a:pPr>
            <a:r>
              <a:rPr sz="1100" b="1" i="0">
                <a:solidFill>
                  <a:srgbClr val="E5905A"/>
                </a:solidFill>
                <a:latin typeface="DM Sans"/>
              </a:rPr>
              <a:t>WHAT'S MISSING</a:t>
            </a:r>
          </a:p>
        </p:txBody>
      </p:sp>
      <p:sp>
        <p:nvSpPr>
          <p:cNvPr id="3" name="TextBox 2"/>
          <p:cNvSpPr txBox="1"/>
          <p:nvPr/>
        </p:nvSpPr>
        <p:spPr>
          <a:xfrm>
            <a:off x="640080" y="777240"/>
            <a:ext cx="10972800" cy="1097280"/>
          </a:xfrm>
          <a:prstGeom prst="rect">
            <a:avLst/>
          </a:prstGeom>
          <a:noFill/>
        </p:spPr>
        <p:txBody>
          <a:bodyPr wrap="square" lIns="0" rIns="0" tIns="0" bIns="0">
            <a:spAutoFit/>
          </a:bodyPr>
          <a:lstStyle/>
          <a:p>
            <a:pPr>
              <a:lnSpc>
                <a:spcPct val="110000"/>
              </a:lnSpc>
            </a:pPr>
            <a:r>
              <a:rPr sz="2800" b="0" i="0">
                <a:solidFill>
                  <a:srgbClr val="2E3D26"/>
                </a:solidFill>
                <a:latin typeface="DM Serif Display"/>
              </a:rPr>
              <a:t>Five gaps — and the values that close them</a:t>
            </a:r>
          </a:p>
        </p:txBody>
      </p:sp>
      <p:sp>
        <p:nvSpPr>
          <p:cNvPr id="4" name="TextBox 3"/>
          <p:cNvSpPr txBox="1"/>
          <p:nvPr/>
        </p:nvSpPr>
        <p:spPr>
          <a:xfrm>
            <a:off x="640080" y="1920240"/>
            <a:ext cx="731520" cy="548640"/>
          </a:xfrm>
          <a:prstGeom prst="rect">
            <a:avLst/>
          </a:prstGeom>
          <a:noFill/>
        </p:spPr>
        <p:txBody>
          <a:bodyPr wrap="square" lIns="0" rIns="0" tIns="0" bIns="0">
            <a:spAutoFit/>
          </a:bodyPr>
          <a:lstStyle/>
          <a:p>
            <a:pPr>
              <a:lnSpc>
                <a:spcPct val="120000"/>
              </a:lnSpc>
            </a:pPr>
            <a:r>
              <a:rPr sz="3200" b="0" i="0">
                <a:solidFill>
                  <a:srgbClr val="E5905A"/>
                </a:solidFill>
                <a:latin typeface="DM Serif Display"/>
              </a:rPr>
              <a:t>01</a:t>
            </a:r>
          </a:p>
        </p:txBody>
      </p:sp>
      <p:sp>
        <p:nvSpPr>
          <p:cNvPr id="5" name="TextBox 4"/>
          <p:cNvSpPr txBox="1"/>
          <p:nvPr/>
        </p:nvSpPr>
        <p:spPr>
          <a:xfrm>
            <a:off x="1554480" y="1920240"/>
            <a:ext cx="3200400" cy="365760"/>
          </a:xfrm>
          <a:prstGeom prst="rect">
            <a:avLst/>
          </a:prstGeom>
          <a:noFill/>
        </p:spPr>
        <p:txBody>
          <a:bodyPr wrap="square" lIns="0" rIns="0" tIns="0" bIns="0">
            <a:spAutoFit/>
          </a:bodyPr>
          <a:lstStyle/>
          <a:p>
            <a:pPr>
              <a:lnSpc>
                <a:spcPct val="120000"/>
              </a:lnSpc>
            </a:pPr>
            <a:r>
              <a:rPr sz="1800" b="1" i="0">
                <a:solidFill>
                  <a:srgbClr val="2E3D26"/>
                </a:solidFill>
                <a:latin typeface="DM Sans"/>
              </a:rPr>
              <a:t>Local insight</a:t>
            </a:r>
          </a:p>
        </p:txBody>
      </p:sp>
      <p:sp>
        <p:nvSpPr>
          <p:cNvPr id="6" name="TextBox 5"/>
          <p:cNvSpPr txBox="1"/>
          <p:nvPr/>
        </p:nvSpPr>
        <p:spPr>
          <a:xfrm>
            <a:off x="4937760" y="1920240"/>
            <a:ext cx="6858000" cy="640080"/>
          </a:xfrm>
          <a:prstGeom prst="rect">
            <a:avLst/>
          </a:prstGeom>
          <a:noFill/>
        </p:spPr>
        <p:txBody>
          <a:bodyPr wrap="square" lIns="0" rIns="0" tIns="0" bIns="0">
            <a:spAutoFit/>
          </a:bodyPr>
          <a:lstStyle/>
          <a:p>
            <a:pPr>
              <a:lnSpc>
                <a:spcPct val="140000"/>
              </a:lnSpc>
            </a:pPr>
            <a:r>
              <a:rPr sz="1400" b="0" i="0">
                <a:solidFill>
                  <a:srgbClr val="5A6953"/>
                </a:solidFill>
                <a:latin typeface="DM Sans"/>
              </a:rPr>
              <a:t>Residents carry context the County doesn't have, with no channel for it to land.</a:t>
            </a:r>
          </a:p>
        </p:txBody>
      </p:sp>
      <p:cxnSp>
        <p:nvCxnSpPr>
          <p:cNvPr id="7" name="Connector 6"/>
          <p:cNvCxnSpPr/>
          <p:nvPr/>
        </p:nvCxnSpPr>
        <p:spPr>
          <a:xfrm>
            <a:off x="640080" y="2715768"/>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2761488"/>
            <a:ext cx="731520" cy="548640"/>
          </a:xfrm>
          <a:prstGeom prst="rect">
            <a:avLst/>
          </a:prstGeom>
          <a:noFill/>
        </p:spPr>
        <p:txBody>
          <a:bodyPr wrap="square" lIns="0" rIns="0" tIns="0" bIns="0">
            <a:spAutoFit/>
          </a:bodyPr>
          <a:lstStyle/>
          <a:p>
            <a:pPr>
              <a:lnSpc>
                <a:spcPct val="120000"/>
              </a:lnSpc>
            </a:pPr>
            <a:r>
              <a:rPr sz="3200" b="0" i="0">
                <a:solidFill>
                  <a:srgbClr val="E5905A"/>
                </a:solidFill>
                <a:latin typeface="DM Serif Display"/>
              </a:rPr>
              <a:t>02</a:t>
            </a:r>
          </a:p>
        </p:txBody>
      </p:sp>
      <p:sp>
        <p:nvSpPr>
          <p:cNvPr id="9" name="TextBox 8"/>
          <p:cNvSpPr txBox="1"/>
          <p:nvPr/>
        </p:nvSpPr>
        <p:spPr>
          <a:xfrm>
            <a:off x="1554480" y="2761488"/>
            <a:ext cx="3200400" cy="365760"/>
          </a:xfrm>
          <a:prstGeom prst="rect">
            <a:avLst/>
          </a:prstGeom>
          <a:noFill/>
        </p:spPr>
        <p:txBody>
          <a:bodyPr wrap="square" lIns="0" rIns="0" tIns="0" bIns="0">
            <a:spAutoFit/>
          </a:bodyPr>
          <a:lstStyle/>
          <a:p>
            <a:pPr>
              <a:lnSpc>
                <a:spcPct val="120000"/>
              </a:lnSpc>
            </a:pPr>
            <a:r>
              <a:rPr sz="1800" b="1" i="0">
                <a:solidFill>
                  <a:srgbClr val="2E3D26"/>
                </a:solidFill>
                <a:latin typeface="DM Sans"/>
              </a:rPr>
              <a:t>Local agency</a:t>
            </a:r>
          </a:p>
        </p:txBody>
      </p:sp>
      <p:sp>
        <p:nvSpPr>
          <p:cNvPr id="10" name="TextBox 9"/>
          <p:cNvSpPr txBox="1"/>
          <p:nvPr/>
        </p:nvSpPr>
        <p:spPr>
          <a:xfrm>
            <a:off x="4937760" y="2761488"/>
            <a:ext cx="6858000" cy="640080"/>
          </a:xfrm>
          <a:prstGeom prst="rect">
            <a:avLst/>
          </a:prstGeom>
          <a:noFill/>
        </p:spPr>
        <p:txBody>
          <a:bodyPr wrap="square" lIns="0" rIns="0" tIns="0" bIns="0">
            <a:spAutoFit/>
          </a:bodyPr>
          <a:lstStyle/>
          <a:p>
            <a:pPr>
              <a:lnSpc>
                <a:spcPct val="140000"/>
              </a:lnSpc>
            </a:pPr>
            <a:r>
              <a:rPr sz="1400" b="0" i="0">
                <a:solidFill>
                  <a:srgbClr val="5A6953"/>
                </a:solidFill>
                <a:latin typeface="DM Sans"/>
              </a:rPr>
              <a:t>Commercial owners have coordinated a shared vision, but no defined path to the County's infrastructure rollout.</a:t>
            </a:r>
          </a:p>
        </p:txBody>
      </p:sp>
      <p:cxnSp>
        <p:nvCxnSpPr>
          <p:cNvPr id="11" name="Connector 10"/>
          <p:cNvCxnSpPr/>
          <p:nvPr/>
        </p:nvCxnSpPr>
        <p:spPr>
          <a:xfrm>
            <a:off x="640080" y="3557016"/>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3602736"/>
            <a:ext cx="731520" cy="548640"/>
          </a:xfrm>
          <a:prstGeom prst="rect">
            <a:avLst/>
          </a:prstGeom>
          <a:noFill/>
        </p:spPr>
        <p:txBody>
          <a:bodyPr wrap="square" lIns="0" rIns="0" tIns="0" bIns="0">
            <a:spAutoFit/>
          </a:bodyPr>
          <a:lstStyle/>
          <a:p>
            <a:pPr>
              <a:lnSpc>
                <a:spcPct val="120000"/>
              </a:lnSpc>
            </a:pPr>
            <a:r>
              <a:rPr sz="3200" b="0" i="0">
                <a:solidFill>
                  <a:srgbClr val="E5905A"/>
                </a:solidFill>
                <a:latin typeface="DM Serif Display"/>
              </a:rPr>
              <a:t>03</a:t>
            </a:r>
          </a:p>
        </p:txBody>
      </p:sp>
      <p:sp>
        <p:nvSpPr>
          <p:cNvPr id="13" name="TextBox 12"/>
          <p:cNvSpPr txBox="1"/>
          <p:nvPr/>
        </p:nvSpPr>
        <p:spPr>
          <a:xfrm>
            <a:off x="1554480" y="3602736"/>
            <a:ext cx="3200400" cy="365760"/>
          </a:xfrm>
          <a:prstGeom prst="rect">
            <a:avLst/>
          </a:prstGeom>
          <a:noFill/>
        </p:spPr>
        <p:txBody>
          <a:bodyPr wrap="square" lIns="0" rIns="0" tIns="0" bIns="0">
            <a:spAutoFit/>
          </a:bodyPr>
          <a:lstStyle/>
          <a:p>
            <a:pPr>
              <a:lnSpc>
                <a:spcPct val="120000"/>
              </a:lnSpc>
            </a:pPr>
            <a:r>
              <a:rPr sz="1800" b="1" i="0">
                <a:solidFill>
                  <a:srgbClr val="2E3D26"/>
                </a:solidFill>
                <a:latin typeface="DM Sans"/>
              </a:rPr>
              <a:t>Coordination</a:t>
            </a:r>
          </a:p>
        </p:txBody>
      </p:sp>
      <p:sp>
        <p:nvSpPr>
          <p:cNvPr id="14" name="TextBox 13"/>
          <p:cNvSpPr txBox="1"/>
          <p:nvPr/>
        </p:nvSpPr>
        <p:spPr>
          <a:xfrm>
            <a:off x="4937760" y="3602736"/>
            <a:ext cx="6858000" cy="640080"/>
          </a:xfrm>
          <a:prstGeom prst="rect">
            <a:avLst/>
          </a:prstGeom>
          <a:noFill/>
        </p:spPr>
        <p:txBody>
          <a:bodyPr wrap="square" lIns="0" rIns="0" tIns="0" bIns="0">
            <a:spAutoFit/>
          </a:bodyPr>
          <a:lstStyle/>
          <a:p>
            <a:pPr>
              <a:lnSpc>
                <a:spcPct val="140000"/>
              </a:lnSpc>
            </a:pPr>
            <a:r>
              <a:rPr sz="1400" b="0" i="0">
                <a:solidFill>
                  <a:srgbClr val="5A6953"/>
                </a:solidFill>
                <a:latin typeface="DM Sans"/>
              </a:rPr>
              <a:t>Agencies plan in parallel, on separate schedules, with no shared way to coordinate.</a:t>
            </a:r>
          </a:p>
        </p:txBody>
      </p:sp>
      <p:cxnSp>
        <p:nvCxnSpPr>
          <p:cNvPr id="15" name="Connector 14"/>
          <p:cNvCxnSpPr/>
          <p:nvPr/>
        </p:nvCxnSpPr>
        <p:spPr>
          <a:xfrm>
            <a:off x="640080" y="4398264"/>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4443984"/>
            <a:ext cx="731520" cy="548640"/>
          </a:xfrm>
          <a:prstGeom prst="rect">
            <a:avLst/>
          </a:prstGeom>
          <a:noFill/>
        </p:spPr>
        <p:txBody>
          <a:bodyPr wrap="square" lIns="0" rIns="0" tIns="0" bIns="0">
            <a:spAutoFit/>
          </a:bodyPr>
          <a:lstStyle/>
          <a:p>
            <a:pPr>
              <a:lnSpc>
                <a:spcPct val="120000"/>
              </a:lnSpc>
            </a:pPr>
            <a:r>
              <a:rPr sz="3200" b="0" i="0">
                <a:solidFill>
                  <a:srgbClr val="E5905A"/>
                </a:solidFill>
                <a:latin typeface="DM Serif Display"/>
              </a:rPr>
              <a:t>04</a:t>
            </a:r>
          </a:p>
        </p:txBody>
      </p:sp>
      <p:sp>
        <p:nvSpPr>
          <p:cNvPr id="17" name="TextBox 16"/>
          <p:cNvSpPr txBox="1"/>
          <p:nvPr/>
        </p:nvSpPr>
        <p:spPr>
          <a:xfrm>
            <a:off x="1554480" y="4443984"/>
            <a:ext cx="3200400" cy="365760"/>
          </a:xfrm>
          <a:prstGeom prst="rect">
            <a:avLst/>
          </a:prstGeom>
          <a:noFill/>
        </p:spPr>
        <p:txBody>
          <a:bodyPr wrap="square" lIns="0" rIns="0" tIns="0" bIns="0">
            <a:spAutoFit/>
          </a:bodyPr>
          <a:lstStyle/>
          <a:p>
            <a:pPr>
              <a:lnSpc>
                <a:spcPct val="120000"/>
              </a:lnSpc>
            </a:pPr>
            <a:r>
              <a:rPr sz="1800" b="1" i="0">
                <a:solidFill>
                  <a:srgbClr val="2E3D26"/>
                </a:solidFill>
                <a:latin typeface="DM Sans"/>
              </a:rPr>
              <a:t>Accountability</a:t>
            </a:r>
          </a:p>
        </p:txBody>
      </p:sp>
      <p:sp>
        <p:nvSpPr>
          <p:cNvPr id="18" name="TextBox 17"/>
          <p:cNvSpPr txBox="1"/>
          <p:nvPr/>
        </p:nvSpPr>
        <p:spPr>
          <a:xfrm>
            <a:off x="4937760" y="4443984"/>
            <a:ext cx="6858000" cy="640080"/>
          </a:xfrm>
          <a:prstGeom prst="rect">
            <a:avLst/>
          </a:prstGeom>
          <a:noFill/>
        </p:spPr>
        <p:txBody>
          <a:bodyPr wrap="square" lIns="0" rIns="0" tIns="0" bIns="0">
            <a:spAutoFit/>
          </a:bodyPr>
          <a:lstStyle/>
          <a:p>
            <a:pPr>
              <a:lnSpc>
                <a:spcPct val="140000"/>
              </a:lnSpc>
            </a:pPr>
            <a:r>
              <a:rPr sz="1400" b="0" i="0">
                <a:solidFill>
                  <a:srgbClr val="5A6953"/>
                </a:solidFill>
                <a:latin typeface="DM Sans"/>
              </a:rPr>
              <a:t>No way to track whether community input shaped what actually gets built.</a:t>
            </a:r>
          </a:p>
        </p:txBody>
      </p:sp>
      <p:cxnSp>
        <p:nvCxnSpPr>
          <p:cNvPr id="19" name="Connector 18"/>
          <p:cNvCxnSpPr/>
          <p:nvPr/>
        </p:nvCxnSpPr>
        <p:spPr>
          <a:xfrm>
            <a:off x="640080" y="5239512"/>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5285232"/>
            <a:ext cx="731520" cy="548640"/>
          </a:xfrm>
          <a:prstGeom prst="rect">
            <a:avLst/>
          </a:prstGeom>
          <a:noFill/>
        </p:spPr>
        <p:txBody>
          <a:bodyPr wrap="square" lIns="0" rIns="0" tIns="0" bIns="0">
            <a:spAutoFit/>
          </a:bodyPr>
          <a:lstStyle/>
          <a:p>
            <a:pPr>
              <a:lnSpc>
                <a:spcPct val="120000"/>
              </a:lnSpc>
            </a:pPr>
            <a:r>
              <a:rPr sz="3200" b="0" i="0">
                <a:solidFill>
                  <a:srgbClr val="E5905A"/>
                </a:solidFill>
                <a:latin typeface="DM Serif Display"/>
              </a:rPr>
              <a:t>05</a:t>
            </a:r>
          </a:p>
        </p:txBody>
      </p:sp>
      <p:sp>
        <p:nvSpPr>
          <p:cNvPr id="21" name="TextBox 20"/>
          <p:cNvSpPr txBox="1"/>
          <p:nvPr/>
        </p:nvSpPr>
        <p:spPr>
          <a:xfrm>
            <a:off x="1554480" y="5285232"/>
            <a:ext cx="3200400" cy="365760"/>
          </a:xfrm>
          <a:prstGeom prst="rect">
            <a:avLst/>
          </a:prstGeom>
          <a:noFill/>
        </p:spPr>
        <p:txBody>
          <a:bodyPr wrap="square" lIns="0" rIns="0" tIns="0" bIns="0">
            <a:spAutoFit/>
          </a:bodyPr>
          <a:lstStyle/>
          <a:p>
            <a:pPr>
              <a:lnSpc>
                <a:spcPct val="120000"/>
              </a:lnSpc>
            </a:pPr>
            <a:r>
              <a:rPr sz="1800" b="1" i="0">
                <a:solidFill>
                  <a:srgbClr val="2E3D26"/>
                </a:solidFill>
                <a:latin typeface="DM Sans"/>
              </a:rPr>
              <a:t>Trauma-informed</a:t>
            </a:r>
          </a:p>
        </p:txBody>
      </p:sp>
      <p:sp>
        <p:nvSpPr>
          <p:cNvPr id="22" name="TextBox 21"/>
          <p:cNvSpPr txBox="1"/>
          <p:nvPr/>
        </p:nvSpPr>
        <p:spPr>
          <a:xfrm>
            <a:off x="4937760" y="5285232"/>
            <a:ext cx="6858000" cy="640080"/>
          </a:xfrm>
          <a:prstGeom prst="rect">
            <a:avLst/>
          </a:prstGeom>
          <a:noFill/>
        </p:spPr>
        <p:txBody>
          <a:bodyPr wrap="square" lIns="0" rIns="0" tIns="0" bIns="0">
            <a:spAutoFit/>
          </a:bodyPr>
          <a:lstStyle/>
          <a:p>
            <a:pPr>
              <a:lnSpc>
                <a:spcPct val="140000"/>
              </a:lnSpc>
            </a:pPr>
            <a:r>
              <a:rPr sz="1400" b="0" i="0">
                <a:solidFill>
                  <a:srgbClr val="5A6953"/>
                </a:solidFill>
                <a:latin typeface="DM Sans"/>
              </a:rPr>
              <a:t>No engagement design built for a community that's been through this much.</a:t>
            </a:r>
          </a:p>
        </p:txBody>
      </p:sp>
      <p:cxnSp>
        <p:nvCxnSpPr>
          <p:cNvPr id="23" name="Connector 22"/>
          <p:cNvCxnSpPr/>
          <p:nvPr/>
        </p:nvCxnSpPr>
        <p:spPr>
          <a:xfrm>
            <a:off x="640080" y="6446520"/>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0080" y="6519672"/>
            <a:ext cx="10972800" cy="274320"/>
          </a:xfrm>
          <a:prstGeom prst="rect">
            <a:avLst/>
          </a:prstGeom>
          <a:noFill/>
        </p:spPr>
        <p:txBody>
          <a:bodyPr wrap="square" lIns="0" rIns="0" tIns="0" bIns="0">
            <a:spAutoFit/>
          </a:bodyPr>
          <a:lstStyle/>
          <a:p>
            <a:pPr algn="ctr">
              <a:lnSpc>
                <a:spcPct val="100000"/>
              </a:lnSpc>
            </a:pPr>
            <a:r>
              <a:rPr sz="900" b="0" i="0">
                <a:solidFill>
                  <a:srgbClr val="5A6953"/>
                </a:solidFill>
                <a:latin typeface="DM Sans"/>
              </a:rPr>
              <a:t>ALTADENA VILLAGE  ·  COLAB  ·  ALTING  ·  ALTAGETHER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spAutoFit/>
          </a:bodyPr>
          <a:lstStyle/>
          <a:p>
            <a:pPr>
              <a:lnSpc>
                <a:spcPct val="100000"/>
              </a:lnSpc>
            </a:pPr>
            <a:r>
              <a:rPr sz="1100" b="1" i="0">
                <a:solidFill>
                  <a:srgbClr val="E5905A"/>
                </a:solidFill>
                <a:latin typeface="DM Sans"/>
              </a:rPr>
              <a:t>WHAT WE'RE PROPOSING</a:t>
            </a:r>
          </a:p>
        </p:txBody>
      </p:sp>
      <p:sp>
        <p:nvSpPr>
          <p:cNvPr id="3" name="TextBox 2"/>
          <p:cNvSpPr txBox="1"/>
          <p:nvPr/>
        </p:nvSpPr>
        <p:spPr>
          <a:xfrm>
            <a:off x="640080" y="777240"/>
            <a:ext cx="10972800" cy="1097280"/>
          </a:xfrm>
          <a:prstGeom prst="rect">
            <a:avLst/>
          </a:prstGeom>
          <a:noFill/>
        </p:spPr>
        <p:txBody>
          <a:bodyPr wrap="square" lIns="0" rIns="0" tIns="0" bIns="0">
            <a:spAutoFit/>
          </a:bodyPr>
          <a:lstStyle/>
          <a:p>
            <a:pPr>
              <a:lnSpc>
                <a:spcPct val="110000"/>
              </a:lnSpc>
            </a:pPr>
            <a:r>
              <a:rPr sz="2400" b="0" i="0">
                <a:solidFill>
                  <a:srgbClr val="2E3D26"/>
                </a:solidFill>
                <a:latin typeface="DM Serif Display"/>
              </a:rPr>
              <a:t>Five steps — content flows down, consensus flows up</a:t>
            </a:r>
          </a:p>
        </p:txBody>
      </p:sp>
      <p:sp>
        <p:nvSpPr>
          <p:cNvPr id="4" name="Rounded Rectangle 3"/>
          <p:cNvSpPr/>
          <p:nvPr/>
        </p:nvSpPr>
        <p:spPr>
          <a:xfrm>
            <a:off x="640080" y="1554480"/>
            <a:ext cx="5650992" cy="3291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65760" cy="3291840"/>
          </a:xfrm>
          <a:prstGeom prst="roundRect">
            <a:avLst>
              <a:gd name="adj" fmla="val 6000"/>
            </a:avLst>
          </a:prstGeom>
          <a:solidFill>
            <a:srgbClr val="FB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11680"/>
            <a:ext cx="365760" cy="274320"/>
          </a:xfrm>
          <a:prstGeom prst="rect">
            <a:avLst/>
          </a:prstGeom>
          <a:noFill/>
        </p:spPr>
        <p:txBody>
          <a:bodyPr wrap="square" lIns="0" rIns="0" tIns="0" bIns="0">
            <a:spAutoFit/>
          </a:bodyPr>
          <a:lstStyle/>
          <a:p>
            <a:pPr algn="ctr">
              <a:lnSpc>
                <a:spcPct val="120000"/>
              </a:lnSpc>
            </a:pPr>
            <a:r>
              <a:rPr sz="1600" b="1" i="0">
                <a:solidFill>
                  <a:srgbClr val="E5905A"/>
                </a:solidFill>
                <a:latin typeface="DM Sans"/>
              </a:rPr>
              <a:t>↓</a:t>
            </a:r>
          </a:p>
        </p:txBody>
      </p:sp>
      <p:sp>
        <p:nvSpPr>
          <p:cNvPr id="7" name="TextBox 6"/>
          <p:cNvSpPr txBox="1"/>
          <p:nvPr/>
        </p:nvSpPr>
        <p:spPr>
          <a:xfrm>
            <a:off x="640080" y="2468880"/>
            <a:ext cx="365760" cy="274320"/>
          </a:xfrm>
          <a:prstGeom prst="rect">
            <a:avLst/>
          </a:prstGeom>
          <a:noFill/>
        </p:spPr>
        <p:txBody>
          <a:bodyPr wrap="square" lIns="0" rIns="0" tIns="0" bIns="0">
            <a:spAutoFit/>
          </a:bodyPr>
          <a:lstStyle/>
          <a:p>
            <a:pPr algn="ctr">
              <a:lnSpc>
                <a:spcPct val="120000"/>
              </a:lnSpc>
            </a:pPr>
            <a:r>
              <a:rPr sz="1600" b="1" i="0">
                <a:solidFill>
                  <a:srgbClr val="E5905A"/>
                </a:solidFill>
                <a:latin typeface="DM Sans"/>
              </a:rPr>
              <a:t>↓</a:t>
            </a:r>
          </a:p>
        </p:txBody>
      </p:sp>
      <p:sp>
        <p:nvSpPr>
          <p:cNvPr id="8" name="TextBox 7"/>
          <p:cNvSpPr txBox="1"/>
          <p:nvPr/>
        </p:nvSpPr>
        <p:spPr>
          <a:xfrm>
            <a:off x="1188720" y="1691640"/>
            <a:ext cx="5010912" cy="228600"/>
          </a:xfrm>
          <a:prstGeom prst="rect">
            <a:avLst/>
          </a:prstGeom>
          <a:noFill/>
        </p:spPr>
        <p:txBody>
          <a:bodyPr wrap="square" lIns="0" rIns="0" tIns="0" bIns="0">
            <a:spAutoFit/>
          </a:bodyPr>
          <a:lstStyle/>
          <a:p>
            <a:pPr>
              <a:lnSpc>
                <a:spcPct val="120000"/>
              </a:lnSpc>
            </a:pPr>
            <a:r>
              <a:rPr sz="900" b="1" i="0">
                <a:solidFill>
                  <a:srgbClr val="E5905A"/>
                </a:solidFill>
                <a:latin typeface="DM Sans"/>
              </a:rPr>
              <a:t>↓ CONTENT FLOWS DOWN</a:t>
            </a:r>
          </a:p>
        </p:txBody>
      </p:sp>
      <p:sp>
        <p:nvSpPr>
          <p:cNvPr id="9" name="TextBox 8"/>
          <p:cNvSpPr txBox="1"/>
          <p:nvPr/>
        </p:nvSpPr>
        <p:spPr>
          <a:xfrm>
            <a:off x="1188720" y="2011680"/>
            <a:ext cx="502920" cy="365760"/>
          </a:xfrm>
          <a:prstGeom prst="rect">
            <a:avLst/>
          </a:prstGeom>
          <a:noFill/>
        </p:spPr>
        <p:txBody>
          <a:bodyPr wrap="square" lIns="0" rIns="0" tIns="0" bIns="0">
            <a:spAutoFit/>
          </a:bodyPr>
          <a:lstStyle/>
          <a:p>
            <a:pPr>
              <a:lnSpc>
                <a:spcPct val="120000"/>
              </a:lnSpc>
            </a:pPr>
            <a:r>
              <a:rPr sz="2200" b="0" i="0">
                <a:solidFill>
                  <a:srgbClr val="E5905A"/>
                </a:solidFill>
                <a:latin typeface="DM Serif Display"/>
              </a:rPr>
              <a:t>01</a:t>
            </a:r>
          </a:p>
        </p:txBody>
      </p:sp>
      <p:sp>
        <p:nvSpPr>
          <p:cNvPr id="10" name="TextBox 9"/>
          <p:cNvSpPr txBox="1"/>
          <p:nvPr/>
        </p:nvSpPr>
        <p:spPr>
          <a:xfrm>
            <a:off x="1691640" y="2011680"/>
            <a:ext cx="4507992" cy="256032"/>
          </a:xfrm>
          <a:prstGeom prst="rect">
            <a:avLst/>
          </a:prstGeom>
          <a:noFill/>
        </p:spPr>
        <p:txBody>
          <a:bodyPr wrap="square" lIns="0" rIns="0" tIns="0" bIns="0">
            <a:spAutoFit/>
          </a:bodyPr>
          <a:lstStyle/>
          <a:p>
            <a:pPr>
              <a:lnSpc>
                <a:spcPct val="120000"/>
              </a:lnSpc>
            </a:pPr>
            <a:r>
              <a:rPr sz="1400" b="1" i="0">
                <a:solidFill>
                  <a:srgbClr val="2E3D26"/>
                </a:solidFill>
                <a:latin typeface="DM Sans"/>
              </a:rPr>
              <a:t>Definition</a:t>
            </a:r>
          </a:p>
        </p:txBody>
      </p:sp>
      <p:sp>
        <p:nvSpPr>
          <p:cNvPr id="11" name="TextBox 10"/>
          <p:cNvSpPr txBox="1"/>
          <p:nvPr/>
        </p:nvSpPr>
        <p:spPr>
          <a:xfrm>
            <a:off x="1691640" y="2286000"/>
            <a:ext cx="4507992" cy="594360"/>
          </a:xfrm>
          <a:prstGeom prst="rect">
            <a:avLst/>
          </a:prstGeom>
          <a:noFill/>
        </p:spPr>
        <p:txBody>
          <a:bodyPr wrap="square" lIns="0" rIns="0" tIns="0" bIns="0">
            <a:spAutoFit/>
          </a:bodyPr>
          <a:lstStyle/>
          <a:p>
            <a:pPr>
              <a:lnSpc>
                <a:spcPct val="135000"/>
              </a:lnSpc>
            </a:pPr>
            <a:r>
              <a:rPr sz="1000" b="0" i="0">
                <a:solidFill>
                  <a:srgbClr val="2E3D26"/>
                </a:solidFill>
                <a:latin typeface="DM Sans"/>
              </a:rPr>
              <a:t>Sponsors define their decision based on community standards — problem, ask, geographic area, timeline, and multi-modal delivery (text · video · Spanish · walking tours) with expert access.</a:t>
            </a:r>
          </a:p>
        </p:txBody>
      </p:sp>
      <p:sp>
        <p:nvSpPr>
          <p:cNvPr id="12" name="TextBox 11"/>
          <p:cNvSpPr txBox="1"/>
          <p:nvPr/>
        </p:nvSpPr>
        <p:spPr>
          <a:xfrm>
            <a:off x="1691640" y="3154680"/>
            <a:ext cx="4507992" cy="182880"/>
          </a:xfrm>
          <a:prstGeom prst="rect">
            <a:avLst/>
          </a:prstGeom>
          <a:noFill/>
        </p:spPr>
        <p:txBody>
          <a:bodyPr wrap="square" lIns="0" rIns="0" tIns="0" bIns="0">
            <a:spAutoFit/>
          </a:bodyPr>
          <a:lstStyle/>
          <a:p>
            <a:pPr>
              <a:lnSpc>
                <a:spcPct val="120000"/>
              </a:lnSpc>
            </a:pPr>
            <a:r>
              <a:rPr sz="800" b="0" i="1">
                <a:solidFill>
                  <a:srgbClr val="5A6953"/>
                </a:solidFill>
                <a:latin typeface="DM Sans"/>
              </a:rPr>
              <a:t>WHO  County agencies · utilities · developers · consultants</a:t>
            </a:r>
          </a:p>
        </p:txBody>
      </p:sp>
      <p:sp>
        <p:nvSpPr>
          <p:cNvPr id="13" name="TextBox 12"/>
          <p:cNvSpPr txBox="1"/>
          <p:nvPr/>
        </p:nvSpPr>
        <p:spPr>
          <a:xfrm>
            <a:off x="1188720" y="3429000"/>
            <a:ext cx="502920" cy="365760"/>
          </a:xfrm>
          <a:prstGeom prst="rect">
            <a:avLst/>
          </a:prstGeom>
          <a:noFill/>
        </p:spPr>
        <p:txBody>
          <a:bodyPr wrap="square" lIns="0" rIns="0" tIns="0" bIns="0">
            <a:spAutoFit/>
          </a:bodyPr>
          <a:lstStyle/>
          <a:p>
            <a:pPr>
              <a:lnSpc>
                <a:spcPct val="120000"/>
              </a:lnSpc>
            </a:pPr>
            <a:r>
              <a:rPr sz="2200" b="0" i="0">
                <a:solidFill>
                  <a:srgbClr val="E5905A"/>
                </a:solidFill>
                <a:latin typeface="DM Serif Display"/>
              </a:rPr>
              <a:t>02</a:t>
            </a:r>
          </a:p>
        </p:txBody>
      </p:sp>
      <p:sp>
        <p:nvSpPr>
          <p:cNvPr id="14" name="TextBox 13"/>
          <p:cNvSpPr txBox="1"/>
          <p:nvPr/>
        </p:nvSpPr>
        <p:spPr>
          <a:xfrm>
            <a:off x="1691640" y="3429000"/>
            <a:ext cx="4507992" cy="256032"/>
          </a:xfrm>
          <a:prstGeom prst="rect">
            <a:avLst/>
          </a:prstGeom>
          <a:noFill/>
        </p:spPr>
        <p:txBody>
          <a:bodyPr wrap="square" lIns="0" rIns="0" tIns="0" bIns="0">
            <a:spAutoFit/>
          </a:bodyPr>
          <a:lstStyle/>
          <a:p>
            <a:pPr>
              <a:lnSpc>
                <a:spcPct val="120000"/>
              </a:lnSpc>
            </a:pPr>
            <a:r>
              <a:rPr sz="1400" b="1" i="0">
                <a:solidFill>
                  <a:srgbClr val="2E3D26"/>
                </a:solidFill>
                <a:latin typeface="DM Sans"/>
              </a:rPr>
              <a:t>Training &amp; Distribution</a:t>
            </a:r>
          </a:p>
        </p:txBody>
      </p:sp>
      <p:sp>
        <p:nvSpPr>
          <p:cNvPr id="15" name="TextBox 14"/>
          <p:cNvSpPr txBox="1"/>
          <p:nvPr/>
        </p:nvSpPr>
        <p:spPr>
          <a:xfrm>
            <a:off x="1691640" y="3703320"/>
            <a:ext cx="4507992" cy="594360"/>
          </a:xfrm>
          <a:prstGeom prst="rect">
            <a:avLst/>
          </a:prstGeom>
          <a:noFill/>
        </p:spPr>
        <p:txBody>
          <a:bodyPr wrap="square" lIns="0" rIns="0" tIns="0" bIns="0">
            <a:spAutoFit/>
          </a:bodyPr>
          <a:lstStyle/>
          <a:p>
            <a:pPr>
              <a:lnSpc>
                <a:spcPct val="135000"/>
              </a:lnSpc>
            </a:pPr>
            <a:r>
              <a:rPr sz="1000" b="0" i="0">
                <a:solidFill>
                  <a:srgbClr val="2E3D26"/>
                </a:solidFill>
                <a:latin typeface="DM Sans"/>
              </a:rPr>
              <a:t>Through existing channels — Altagether's 150+ block captains and the commercial-owner network, trained to facilitate with on-call backup.</a:t>
            </a:r>
          </a:p>
        </p:txBody>
      </p:sp>
      <p:sp>
        <p:nvSpPr>
          <p:cNvPr id="16" name="TextBox 15"/>
          <p:cNvSpPr txBox="1"/>
          <p:nvPr/>
        </p:nvSpPr>
        <p:spPr>
          <a:xfrm>
            <a:off x="1691640" y="4572000"/>
            <a:ext cx="4507992" cy="182880"/>
          </a:xfrm>
          <a:prstGeom prst="rect">
            <a:avLst/>
          </a:prstGeom>
          <a:noFill/>
        </p:spPr>
        <p:txBody>
          <a:bodyPr wrap="square" lIns="0" rIns="0" tIns="0" bIns="0">
            <a:spAutoFit/>
          </a:bodyPr>
          <a:lstStyle/>
          <a:p>
            <a:pPr>
              <a:lnSpc>
                <a:spcPct val="120000"/>
              </a:lnSpc>
            </a:pPr>
            <a:r>
              <a:rPr sz="800" b="0" i="1">
                <a:solidFill>
                  <a:srgbClr val="5A6953"/>
                </a:solidFill>
                <a:latin typeface="DM Sans"/>
              </a:rPr>
              <a:t>WHO  Altagether captains · commercial-owner network · CoLab (training)</a:t>
            </a:r>
          </a:p>
        </p:txBody>
      </p:sp>
      <p:sp>
        <p:nvSpPr>
          <p:cNvPr id="17" name="Rounded Rectangle 16"/>
          <p:cNvSpPr/>
          <p:nvPr/>
        </p:nvSpPr>
        <p:spPr>
          <a:xfrm>
            <a:off x="6455664" y="1554480"/>
            <a:ext cx="5650992" cy="3291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55664" y="1554480"/>
            <a:ext cx="365760" cy="32918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5664" y="2011680"/>
            <a:ext cx="365760" cy="274320"/>
          </a:xfrm>
          <a:prstGeom prst="rect">
            <a:avLst/>
          </a:prstGeom>
          <a:noFill/>
        </p:spPr>
        <p:txBody>
          <a:bodyPr wrap="square" lIns="0" rIns="0" tIns="0" bIns="0">
            <a:spAutoFit/>
          </a:bodyPr>
          <a:lstStyle/>
          <a:p>
            <a:pPr algn="ctr">
              <a:lnSpc>
                <a:spcPct val="120000"/>
              </a:lnSpc>
            </a:pPr>
            <a:r>
              <a:rPr sz="1600" b="1" i="0">
                <a:solidFill>
                  <a:srgbClr val="7A8A6E"/>
                </a:solidFill>
                <a:latin typeface="DM Sans"/>
              </a:rPr>
              <a:t>↑</a:t>
            </a:r>
          </a:p>
        </p:txBody>
      </p:sp>
      <p:sp>
        <p:nvSpPr>
          <p:cNvPr id="20" name="TextBox 19"/>
          <p:cNvSpPr txBox="1"/>
          <p:nvPr/>
        </p:nvSpPr>
        <p:spPr>
          <a:xfrm>
            <a:off x="6455664" y="2468880"/>
            <a:ext cx="365760" cy="274320"/>
          </a:xfrm>
          <a:prstGeom prst="rect">
            <a:avLst/>
          </a:prstGeom>
          <a:noFill/>
        </p:spPr>
        <p:txBody>
          <a:bodyPr wrap="square" lIns="0" rIns="0" tIns="0" bIns="0">
            <a:spAutoFit/>
          </a:bodyPr>
          <a:lstStyle/>
          <a:p>
            <a:pPr algn="ctr">
              <a:lnSpc>
                <a:spcPct val="120000"/>
              </a:lnSpc>
            </a:pPr>
            <a:r>
              <a:rPr sz="1600" b="1" i="0">
                <a:solidFill>
                  <a:srgbClr val="7A8A6E"/>
                </a:solidFill>
                <a:latin typeface="DM Sans"/>
              </a:rPr>
              <a:t>↑</a:t>
            </a:r>
          </a:p>
        </p:txBody>
      </p:sp>
      <p:sp>
        <p:nvSpPr>
          <p:cNvPr id="21" name="TextBox 20"/>
          <p:cNvSpPr txBox="1"/>
          <p:nvPr/>
        </p:nvSpPr>
        <p:spPr>
          <a:xfrm>
            <a:off x="7004304" y="1691640"/>
            <a:ext cx="5010912" cy="228600"/>
          </a:xfrm>
          <a:prstGeom prst="rect">
            <a:avLst/>
          </a:prstGeom>
          <a:noFill/>
        </p:spPr>
        <p:txBody>
          <a:bodyPr wrap="square" lIns="0" rIns="0" tIns="0" bIns="0">
            <a:spAutoFit/>
          </a:bodyPr>
          <a:lstStyle/>
          <a:p>
            <a:pPr>
              <a:lnSpc>
                <a:spcPct val="120000"/>
              </a:lnSpc>
            </a:pPr>
            <a:r>
              <a:rPr sz="900" b="1" i="0">
                <a:solidFill>
                  <a:srgbClr val="7A8A6E"/>
                </a:solidFill>
                <a:latin typeface="DM Sans"/>
              </a:rPr>
              <a:t>↑ CONSENSUS FLOWS UP</a:t>
            </a:r>
          </a:p>
        </p:txBody>
      </p:sp>
      <p:sp>
        <p:nvSpPr>
          <p:cNvPr id="22" name="TextBox 21"/>
          <p:cNvSpPr txBox="1"/>
          <p:nvPr/>
        </p:nvSpPr>
        <p:spPr>
          <a:xfrm>
            <a:off x="7004304" y="2011680"/>
            <a:ext cx="502920" cy="365760"/>
          </a:xfrm>
          <a:prstGeom prst="rect">
            <a:avLst/>
          </a:prstGeom>
          <a:noFill/>
        </p:spPr>
        <p:txBody>
          <a:bodyPr wrap="square" lIns="0" rIns="0" tIns="0" bIns="0">
            <a:spAutoFit/>
          </a:bodyPr>
          <a:lstStyle/>
          <a:p>
            <a:pPr>
              <a:lnSpc>
                <a:spcPct val="120000"/>
              </a:lnSpc>
            </a:pPr>
            <a:r>
              <a:rPr sz="2200" b="0" i="0">
                <a:solidFill>
                  <a:srgbClr val="7A8A6E"/>
                </a:solidFill>
                <a:latin typeface="DM Serif Display"/>
              </a:rPr>
              <a:t>05</a:t>
            </a:r>
          </a:p>
        </p:txBody>
      </p:sp>
      <p:sp>
        <p:nvSpPr>
          <p:cNvPr id="23" name="TextBox 22"/>
          <p:cNvSpPr txBox="1"/>
          <p:nvPr/>
        </p:nvSpPr>
        <p:spPr>
          <a:xfrm>
            <a:off x="7507224" y="2011680"/>
            <a:ext cx="4507992" cy="256032"/>
          </a:xfrm>
          <a:prstGeom prst="rect">
            <a:avLst/>
          </a:prstGeom>
          <a:noFill/>
        </p:spPr>
        <p:txBody>
          <a:bodyPr wrap="square" lIns="0" rIns="0" tIns="0" bIns="0">
            <a:spAutoFit/>
          </a:bodyPr>
          <a:lstStyle/>
          <a:p>
            <a:pPr>
              <a:lnSpc>
                <a:spcPct val="120000"/>
              </a:lnSpc>
            </a:pPr>
            <a:r>
              <a:rPr sz="1400" b="1" i="0">
                <a:solidFill>
                  <a:srgbClr val="2E3D26"/>
                </a:solidFill>
                <a:latin typeface="DM Sans"/>
              </a:rPr>
              <a:t>Shared record</a:t>
            </a:r>
          </a:p>
        </p:txBody>
      </p:sp>
      <p:sp>
        <p:nvSpPr>
          <p:cNvPr id="24" name="TextBox 23"/>
          <p:cNvSpPr txBox="1"/>
          <p:nvPr/>
        </p:nvSpPr>
        <p:spPr>
          <a:xfrm>
            <a:off x="7507224" y="2286000"/>
            <a:ext cx="4507992" cy="594360"/>
          </a:xfrm>
          <a:prstGeom prst="rect">
            <a:avLst/>
          </a:prstGeom>
          <a:noFill/>
        </p:spPr>
        <p:txBody>
          <a:bodyPr wrap="square" lIns="0" rIns="0" tIns="0" bIns="0">
            <a:spAutoFit/>
          </a:bodyPr>
          <a:lstStyle/>
          <a:p>
            <a:pPr>
              <a:lnSpc>
                <a:spcPct val="135000"/>
              </a:lnSpc>
            </a:pPr>
            <a:r>
              <a:rPr sz="1000" b="0" i="0">
                <a:solidFill>
                  <a:srgbClr val="2E3D26"/>
                </a:solidFill>
                <a:latin typeface="DM Sans"/>
              </a:rPr>
              <a:t>The record goes public — tracked on a dashboard, visible to all stakeholders.</a:t>
            </a:r>
          </a:p>
        </p:txBody>
      </p:sp>
      <p:sp>
        <p:nvSpPr>
          <p:cNvPr id="25" name="TextBox 24"/>
          <p:cNvSpPr txBox="1"/>
          <p:nvPr/>
        </p:nvSpPr>
        <p:spPr>
          <a:xfrm>
            <a:off x="7507224" y="3154680"/>
            <a:ext cx="4507992" cy="182880"/>
          </a:xfrm>
          <a:prstGeom prst="rect">
            <a:avLst/>
          </a:prstGeom>
          <a:noFill/>
        </p:spPr>
        <p:txBody>
          <a:bodyPr wrap="square" lIns="0" rIns="0" tIns="0" bIns="0">
            <a:spAutoFit/>
          </a:bodyPr>
          <a:lstStyle/>
          <a:p>
            <a:pPr>
              <a:lnSpc>
                <a:spcPct val="120000"/>
              </a:lnSpc>
            </a:pPr>
            <a:r>
              <a:rPr sz="800" b="0" i="1">
                <a:solidFill>
                  <a:srgbClr val="5A6953"/>
                </a:solidFill>
                <a:latin typeface="DM Sans"/>
              </a:rPr>
              <a:t>WHO  All stakeholders see · working group maintains</a:t>
            </a:r>
          </a:p>
        </p:txBody>
      </p:sp>
      <p:sp>
        <p:nvSpPr>
          <p:cNvPr id="26" name="TextBox 25"/>
          <p:cNvSpPr txBox="1"/>
          <p:nvPr/>
        </p:nvSpPr>
        <p:spPr>
          <a:xfrm>
            <a:off x="7004304" y="3429000"/>
            <a:ext cx="502920" cy="365760"/>
          </a:xfrm>
          <a:prstGeom prst="rect">
            <a:avLst/>
          </a:prstGeom>
          <a:noFill/>
        </p:spPr>
        <p:txBody>
          <a:bodyPr wrap="square" lIns="0" rIns="0" tIns="0" bIns="0">
            <a:spAutoFit/>
          </a:bodyPr>
          <a:lstStyle/>
          <a:p>
            <a:pPr>
              <a:lnSpc>
                <a:spcPct val="120000"/>
              </a:lnSpc>
            </a:pPr>
            <a:r>
              <a:rPr sz="2200" b="0" i="0">
                <a:solidFill>
                  <a:srgbClr val="7A8A6E"/>
                </a:solidFill>
                <a:latin typeface="DM Serif Display"/>
              </a:rPr>
              <a:t>04</a:t>
            </a:r>
          </a:p>
        </p:txBody>
      </p:sp>
      <p:sp>
        <p:nvSpPr>
          <p:cNvPr id="27" name="TextBox 26"/>
          <p:cNvSpPr txBox="1"/>
          <p:nvPr/>
        </p:nvSpPr>
        <p:spPr>
          <a:xfrm>
            <a:off x="7507224" y="3429000"/>
            <a:ext cx="4507992" cy="256032"/>
          </a:xfrm>
          <a:prstGeom prst="rect">
            <a:avLst/>
          </a:prstGeom>
          <a:noFill/>
        </p:spPr>
        <p:txBody>
          <a:bodyPr wrap="square" lIns="0" rIns="0" tIns="0" bIns="0">
            <a:spAutoFit/>
          </a:bodyPr>
          <a:lstStyle/>
          <a:p>
            <a:pPr>
              <a:lnSpc>
                <a:spcPct val="120000"/>
              </a:lnSpc>
            </a:pPr>
            <a:r>
              <a:rPr sz="1400" b="1" i="0">
                <a:solidFill>
                  <a:srgbClr val="2E3D26"/>
                </a:solidFill>
                <a:latin typeface="DM Sans"/>
              </a:rPr>
              <a:t>Aggregation</a:t>
            </a:r>
          </a:p>
        </p:txBody>
      </p:sp>
      <p:sp>
        <p:nvSpPr>
          <p:cNvPr id="28" name="TextBox 27"/>
          <p:cNvSpPr txBox="1"/>
          <p:nvPr/>
        </p:nvSpPr>
        <p:spPr>
          <a:xfrm>
            <a:off x="7507224" y="3703320"/>
            <a:ext cx="4507992" cy="594360"/>
          </a:xfrm>
          <a:prstGeom prst="rect">
            <a:avLst/>
          </a:prstGeom>
          <a:noFill/>
        </p:spPr>
        <p:txBody>
          <a:bodyPr wrap="square" lIns="0" rIns="0" tIns="0" bIns="0">
            <a:spAutoFit/>
          </a:bodyPr>
          <a:lstStyle/>
          <a:p>
            <a:pPr>
              <a:lnSpc>
                <a:spcPct val="135000"/>
              </a:lnSpc>
            </a:pPr>
            <a:r>
              <a:rPr sz="1000" b="0" i="0">
                <a:solidFill>
                  <a:srgbClr val="2E3D26"/>
                </a:solidFill>
                <a:latin typeface="DM Sans"/>
              </a:rPr>
              <a:t>Block deliberations compile into a coherent record — organized by area, corridor, zone, and by the sponsor's own categories. Private dialogue stays private; outcomes become public.</a:t>
            </a:r>
          </a:p>
        </p:txBody>
      </p:sp>
      <p:sp>
        <p:nvSpPr>
          <p:cNvPr id="29" name="TextBox 28"/>
          <p:cNvSpPr txBox="1"/>
          <p:nvPr/>
        </p:nvSpPr>
        <p:spPr>
          <a:xfrm>
            <a:off x="7507224" y="4572000"/>
            <a:ext cx="4507992" cy="182880"/>
          </a:xfrm>
          <a:prstGeom prst="rect">
            <a:avLst/>
          </a:prstGeom>
          <a:noFill/>
        </p:spPr>
        <p:txBody>
          <a:bodyPr wrap="square" lIns="0" rIns="0" tIns="0" bIns="0">
            <a:spAutoFit/>
          </a:bodyPr>
          <a:lstStyle/>
          <a:p>
            <a:pPr>
              <a:lnSpc>
                <a:spcPct val="120000"/>
              </a:lnSpc>
            </a:pPr>
            <a:r>
              <a:rPr sz="800" b="0" i="1">
                <a:solidFill>
                  <a:srgbClr val="5A6953"/>
                </a:solidFill>
                <a:latin typeface="DM Sans"/>
              </a:rPr>
              <a:t>WHO  Captains record · CoLab captures · Alting synthesizes</a:t>
            </a:r>
          </a:p>
        </p:txBody>
      </p:sp>
      <p:sp>
        <p:nvSpPr>
          <p:cNvPr id="30" name="Rounded Rectangle 29"/>
          <p:cNvSpPr/>
          <p:nvPr/>
        </p:nvSpPr>
        <p:spPr>
          <a:xfrm>
            <a:off x="640080" y="4983480"/>
            <a:ext cx="11466576" cy="1325880"/>
          </a:xfrm>
          <a:prstGeom prst="roundRect">
            <a:avLst>
              <a:gd name="adj" fmla="val 6000"/>
            </a:avLst>
          </a:prstGeom>
          <a:solidFill>
            <a:srgbClr val="2E3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0080" y="4983480"/>
            <a:ext cx="365760" cy="1325880"/>
          </a:xfrm>
          <a:prstGeom prst="roundRect">
            <a:avLst>
              <a:gd name="adj" fmla="val 6000"/>
            </a:avLst>
          </a:prstGeom>
          <a:solidFill>
            <a:srgbClr val="5A69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303520"/>
            <a:ext cx="365760" cy="228600"/>
          </a:xfrm>
          <a:prstGeom prst="rect">
            <a:avLst/>
          </a:prstGeom>
          <a:noFill/>
        </p:spPr>
        <p:txBody>
          <a:bodyPr wrap="square" lIns="0" rIns="0" tIns="0" bIns="0">
            <a:spAutoFit/>
          </a:bodyPr>
          <a:lstStyle/>
          <a:p>
            <a:pPr algn="ctr">
              <a:lnSpc>
                <a:spcPct val="120000"/>
              </a:lnSpc>
            </a:pPr>
            <a:r>
              <a:rPr sz="1800" b="1" i="0">
                <a:solidFill>
                  <a:srgbClr val="FAF6F0"/>
                </a:solidFill>
                <a:latin typeface="DM Sans"/>
              </a:rPr>
              <a:t>•</a:t>
            </a:r>
          </a:p>
        </p:txBody>
      </p:sp>
      <p:sp>
        <p:nvSpPr>
          <p:cNvPr id="33" name="TextBox 32"/>
          <p:cNvSpPr txBox="1"/>
          <p:nvPr/>
        </p:nvSpPr>
        <p:spPr>
          <a:xfrm>
            <a:off x="640080" y="5623560"/>
            <a:ext cx="365760" cy="228600"/>
          </a:xfrm>
          <a:prstGeom prst="rect">
            <a:avLst/>
          </a:prstGeom>
          <a:noFill/>
        </p:spPr>
        <p:txBody>
          <a:bodyPr wrap="square" lIns="0" rIns="0" tIns="0" bIns="0">
            <a:spAutoFit/>
          </a:bodyPr>
          <a:lstStyle/>
          <a:p>
            <a:pPr algn="ctr">
              <a:lnSpc>
                <a:spcPct val="120000"/>
              </a:lnSpc>
            </a:pPr>
            <a:r>
              <a:rPr sz="1800" b="1" i="0">
                <a:solidFill>
                  <a:srgbClr val="FAF6F0"/>
                </a:solidFill>
                <a:latin typeface="DM Sans"/>
              </a:rPr>
              <a:t>•</a:t>
            </a:r>
          </a:p>
        </p:txBody>
      </p:sp>
      <p:sp>
        <p:nvSpPr>
          <p:cNvPr id="34" name="TextBox 33"/>
          <p:cNvSpPr txBox="1"/>
          <p:nvPr/>
        </p:nvSpPr>
        <p:spPr>
          <a:xfrm>
            <a:off x="1188720" y="5120640"/>
            <a:ext cx="10826496" cy="228600"/>
          </a:xfrm>
          <a:prstGeom prst="rect">
            <a:avLst/>
          </a:prstGeom>
          <a:noFill/>
        </p:spPr>
        <p:txBody>
          <a:bodyPr wrap="square" lIns="0" rIns="0" tIns="0" bIns="0">
            <a:spAutoFit/>
          </a:bodyPr>
          <a:lstStyle/>
          <a:p>
            <a:pPr>
              <a:lnSpc>
                <a:spcPct val="120000"/>
              </a:lnSpc>
            </a:pPr>
            <a:r>
              <a:rPr sz="900" b="1" i="0">
                <a:solidFill>
                  <a:srgbClr val="E5905A"/>
                </a:solidFill>
                <a:latin typeface="DM Sans"/>
              </a:rPr>
              <a:t>DELIBERATION</a:t>
            </a:r>
          </a:p>
        </p:txBody>
      </p:sp>
      <p:sp>
        <p:nvSpPr>
          <p:cNvPr id="35" name="TextBox 34"/>
          <p:cNvSpPr txBox="1"/>
          <p:nvPr/>
        </p:nvSpPr>
        <p:spPr>
          <a:xfrm>
            <a:off x="1188720" y="5349240"/>
            <a:ext cx="502920" cy="365760"/>
          </a:xfrm>
          <a:prstGeom prst="rect">
            <a:avLst/>
          </a:prstGeom>
          <a:noFill/>
        </p:spPr>
        <p:txBody>
          <a:bodyPr wrap="square" lIns="0" rIns="0" tIns="0" bIns="0">
            <a:spAutoFit/>
          </a:bodyPr>
          <a:lstStyle/>
          <a:p>
            <a:pPr>
              <a:lnSpc>
                <a:spcPct val="120000"/>
              </a:lnSpc>
            </a:pPr>
            <a:r>
              <a:rPr sz="2200" b="0" i="0">
                <a:solidFill>
                  <a:srgbClr val="E5905A"/>
                </a:solidFill>
                <a:latin typeface="DM Serif Display"/>
              </a:rPr>
              <a:t>03</a:t>
            </a:r>
          </a:p>
        </p:txBody>
      </p:sp>
      <p:sp>
        <p:nvSpPr>
          <p:cNvPr id="36" name="TextBox 35"/>
          <p:cNvSpPr txBox="1"/>
          <p:nvPr/>
        </p:nvSpPr>
        <p:spPr>
          <a:xfrm>
            <a:off x="1691640" y="5349240"/>
            <a:ext cx="10323576" cy="256032"/>
          </a:xfrm>
          <a:prstGeom prst="rect">
            <a:avLst/>
          </a:prstGeom>
          <a:noFill/>
        </p:spPr>
        <p:txBody>
          <a:bodyPr wrap="square" lIns="0" rIns="0" tIns="0" bIns="0">
            <a:spAutoFit/>
          </a:bodyPr>
          <a:lstStyle/>
          <a:p>
            <a:pPr>
              <a:lnSpc>
                <a:spcPct val="120000"/>
              </a:lnSpc>
            </a:pPr>
            <a:r>
              <a:rPr sz="1400" b="1" i="0">
                <a:solidFill>
                  <a:srgbClr val="FAF6F0"/>
                </a:solidFill>
                <a:latin typeface="DM Sans"/>
              </a:rPr>
              <a:t>Facilitating Discussion</a:t>
            </a:r>
          </a:p>
        </p:txBody>
      </p:sp>
      <p:sp>
        <p:nvSpPr>
          <p:cNvPr id="37" name="TextBox 36"/>
          <p:cNvSpPr txBox="1"/>
          <p:nvPr/>
        </p:nvSpPr>
        <p:spPr>
          <a:xfrm>
            <a:off x="1691640" y="5623560"/>
            <a:ext cx="10323576" cy="365760"/>
          </a:xfrm>
          <a:prstGeom prst="rect">
            <a:avLst/>
          </a:prstGeom>
          <a:noFill/>
        </p:spPr>
        <p:txBody>
          <a:bodyPr wrap="square" lIns="0" rIns="0" tIns="0" bIns="0">
            <a:spAutoFit/>
          </a:bodyPr>
          <a:lstStyle/>
          <a:p>
            <a:pPr>
              <a:lnSpc>
                <a:spcPct val="135000"/>
              </a:lnSpc>
            </a:pPr>
            <a:r>
              <a:rPr sz="1000" b="0" i="0">
                <a:solidFill>
                  <a:srgbClr val="FAF6F0"/>
                </a:solidFill>
                <a:latin typeface="DM Sans"/>
              </a:rPr>
              <a:t>Block captains facilitate time-bound community deliberation at the block level.</a:t>
            </a:r>
          </a:p>
        </p:txBody>
      </p:sp>
      <p:sp>
        <p:nvSpPr>
          <p:cNvPr id="38" name="TextBox 37"/>
          <p:cNvSpPr txBox="1"/>
          <p:nvPr/>
        </p:nvSpPr>
        <p:spPr>
          <a:xfrm>
            <a:off x="1691640" y="6035040"/>
            <a:ext cx="10323576" cy="182880"/>
          </a:xfrm>
          <a:prstGeom prst="rect">
            <a:avLst/>
          </a:prstGeom>
          <a:noFill/>
        </p:spPr>
        <p:txBody>
          <a:bodyPr wrap="square" lIns="0" rIns="0" tIns="0" bIns="0">
            <a:spAutoFit/>
          </a:bodyPr>
          <a:lstStyle/>
          <a:p>
            <a:pPr>
              <a:lnSpc>
                <a:spcPct val="120000"/>
              </a:lnSpc>
            </a:pPr>
            <a:r>
              <a:rPr sz="800" b="0" i="1">
                <a:solidFill>
                  <a:srgbClr val="C8CCC0"/>
                </a:solidFill>
                <a:latin typeface="DM Sans"/>
              </a:rPr>
              <a:t>WHO  Block captains lead · Altadena public participates · local facilitators support</a:t>
            </a:r>
          </a:p>
        </p:txBody>
      </p:sp>
      <p:cxnSp>
        <p:nvCxnSpPr>
          <p:cNvPr id="39" name="Connector 38"/>
          <p:cNvCxnSpPr/>
          <p:nvPr/>
        </p:nvCxnSpPr>
        <p:spPr>
          <a:xfrm>
            <a:off x="640080" y="6446520"/>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0080" y="6519672"/>
            <a:ext cx="10972800" cy="274320"/>
          </a:xfrm>
          <a:prstGeom prst="rect">
            <a:avLst/>
          </a:prstGeom>
          <a:noFill/>
        </p:spPr>
        <p:txBody>
          <a:bodyPr wrap="square" lIns="0" rIns="0" tIns="0" bIns="0">
            <a:spAutoFit/>
          </a:bodyPr>
          <a:lstStyle/>
          <a:p>
            <a:pPr algn="ctr">
              <a:lnSpc>
                <a:spcPct val="100000"/>
              </a:lnSpc>
            </a:pPr>
            <a:r>
              <a:rPr sz="900" b="0" i="0">
                <a:solidFill>
                  <a:srgbClr val="5A6953"/>
                </a:solidFill>
                <a:latin typeface="DM Sans"/>
              </a:rPr>
              <a:t>ALTADENA VILLAGE  ·  COLAB  ·  ALTING  ·  ALTAGETHER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spAutoFit/>
          </a:bodyPr>
          <a:lstStyle/>
          <a:p>
            <a:pPr>
              <a:lnSpc>
                <a:spcPct val="100000"/>
              </a:lnSpc>
            </a:pPr>
            <a:r>
              <a:rPr sz="1100" b="1" i="0">
                <a:solidFill>
                  <a:srgbClr val="E5905A"/>
                </a:solidFill>
                <a:latin typeface="DM Sans"/>
              </a:rPr>
              <a:t>WORKED EXAMPLE</a:t>
            </a:r>
          </a:p>
        </p:txBody>
      </p:sp>
      <p:sp>
        <p:nvSpPr>
          <p:cNvPr id="3" name="TextBox 2"/>
          <p:cNvSpPr txBox="1"/>
          <p:nvPr/>
        </p:nvSpPr>
        <p:spPr>
          <a:xfrm>
            <a:off x="640080" y="777240"/>
            <a:ext cx="10972800" cy="1097280"/>
          </a:xfrm>
          <a:prstGeom prst="rect">
            <a:avLst/>
          </a:prstGeom>
          <a:noFill/>
        </p:spPr>
        <p:txBody>
          <a:bodyPr wrap="square" lIns="0" rIns="0" tIns="0" bIns="0">
            <a:spAutoFit/>
          </a:bodyPr>
          <a:lstStyle/>
          <a:p>
            <a:pPr>
              <a:lnSpc>
                <a:spcPct val="110000"/>
              </a:lnSpc>
            </a:pPr>
            <a:r>
              <a:rPr sz="2800" b="0" i="0">
                <a:solidFill>
                  <a:srgbClr val="2E3D26"/>
                </a:solidFill>
                <a:latin typeface="DM Serif Display"/>
              </a:rPr>
              <a:t>Fair Oaks Corridor (Immediate need)</a:t>
            </a:r>
          </a:p>
        </p:txBody>
      </p:sp>
      <p:sp>
        <p:nvSpPr>
          <p:cNvPr id="4" name="Rounded Rectangle 3"/>
          <p:cNvSpPr/>
          <p:nvPr/>
        </p:nvSpPr>
        <p:spPr>
          <a:xfrm>
            <a:off x="640080" y="1554480"/>
            <a:ext cx="5650992"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554480"/>
            <a:ext cx="365760" cy="2926080"/>
          </a:xfrm>
          <a:prstGeom prst="roundRect">
            <a:avLst>
              <a:gd name="adj" fmla="val 6000"/>
            </a:avLst>
          </a:prstGeom>
          <a:solidFill>
            <a:srgbClr val="FBEB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11680"/>
            <a:ext cx="365760" cy="274320"/>
          </a:xfrm>
          <a:prstGeom prst="rect">
            <a:avLst/>
          </a:prstGeom>
          <a:noFill/>
        </p:spPr>
        <p:txBody>
          <a:bodyPr wrap="square" lIns="0" rIns="0" tIns="0" bIns="0">
            <a:spAutoFit/>
          </a:bodyPr>
          <a:lstStyle/>
          <a:p>
            <a:pPr algn="ctr">
              <a:lnSpc>
                <a:spcPct val="120000"/>
              </a:lnSpc>
            </a:pPr>
            <a:r>
              <a:rPr sz="1600" b="1" i="0">
                <a:solidFill>
                  <a:srgbClr val="E5905A"/>
                </a:solidFill>
                <a:latin typeface="DM Sans"/>
              </a:rPr>
              <a:t>↓</a:t>
            </a:r>
          </a:p>
        </p:txBody>
      </p:sp>
      <p:sp>
        <p:nvSpPr>
          <p:cNvPr id="7" name="TextBox 6"/>
          <p:cNvSpPr txBox="1"/>
          <p:nvPr/>
        </p:nvSpPr>
        <p:spPr>
          <a:xfrm>
            <a:off x="640080" y="2468880"/>
            <a:ext cx="365760" cy="274320"/>
          </a:xfrm>
          <a:prstGeom prst="rect">
            <a:avLst/>
          </a:prstGeom>
          <a:noFill/>
        </p:spPr>
        <p:txBody>
          <a:bodyPr wrap="square" lIns="0" rIns="0" tIns="0" bIns="0">
            <a:spAutoFit/>
          </a:bodyPr>
          <a:lstStyle/>
          <a:p>
            <a:pPr algn="ctr">
              <a:lnSpc>
                <a:spcPct val="120000"/>
              </a:lnSpc>
            </a:pPr>
            <a:r>
              <a:rPr sz="1600" b="1" i="0">
                <a:solidFill>
                  <a:srgbClr val="E5905A"/>
                </a:solidFill>
                <a:latin typeface="DM Sans"/>
              </a:rPr>
              <a:t>↓</a:t>
            </a:r>
          </a:p>
        </p:txBody>
      </p:sp>
      <p:sp>
        <p:nvSpPr>
          <p:cNvPr id="8" name="TextBox 7"/>
          <p:cNvSpPr txBox="1"/>
          <p:nvPr/>
        </p:nvSpPr>
        <p:spPr>
          <a:xfrm>
            <a:off x="1188720" y="1691640"/>
            <a:ext cx="5010912" cy="228600"/>
          </a:xfrm>
          <a:prstGeom prst="rect">
            <a:avLst/>
          </a:prstGeom>
          <a:noFill/>
        </p:spPr>
        <p:txBody>
          <a:bodyPr wrap="square" lIns="0" rIns="0" tIns="0" bIns="0">
            <a:spAutoFit/>
          </a:bodyPr>
          <a:lstStyle/>
          <a:p>
            <a:pPr>
              <a:lnSpc>
                <a:spcPct val="120000"/>
              </a:lnSpc>
            </a:pPr>
            <a:r>
              <a:rPr sz="900" b="1" i="0">
                <a:solidFill>
                  <a:srgbClr val="E5905A"/>
                </a:solidFill>
                <a:latin typeface="DM Sans"/>
              </a:rPr>
              <a:t>↓ CONTENT FLOWS DOWN</a:t>
            </a:r>
          </a:p>
        </p:txBody>
      </p:sp>
      <p:sp>
        <p:nvSpPr>
          <p:cNvPr id="9" name="TextBox 8"/>
          <p:cNvSpPr txBox="1"/>
          <p:nvPr/>
        </p:nvSpPr>
        <p:spPr>
          <a:xfrm>
            <a:off x="1188720" y="2011680"/>
            <a:ext cx="502920" cy="365760"/>
          </a:xfrm>
          <a:prstGeom prst="rect">
            <a:avLst/>
          </a:prstGeom>
          <a:noFill/>
        </p:spPr>
        <p:txBody>
          <a:bodyPr wrap="square" lIns="0" rIns="0" tIns="0" bIns="0">
            <a:spAutoFit/>
          </a:bodyPr>
          <a:lstStyle/>
          <a:p>
            <a:pPr>
              <a:lnSpc>
                <a:spcPct val="120000"/>
              </a:lnSpc>
            </a:pPr>
            <a:r>
              <a:rPr sz="2200" b="0" i="0">
                <a:solidFill>
                  <a:srgbClr val="E5905A"/>
                </a:solidFill>
                <a:latin typeface="DM Serif Display"/>
              </a:rPr>
              <a:t>01</a:t>
            </a:r>
          </a:p>
        </p:txBody>
      </p:sp>
      <p:sp>
        <p:nvSpPr>
          <p:cNvPr id="10" name="TextBox 9"/>
          <p:cNvSpPr txBox="1"/>
          <p:nvPr/>
        </p:nvSpPr>
        <p:spPr>
          <a:xfrm>
            <a:off x="1691640" y="2011680"/>
            <a:ext cx="4507992" cy="256032"/>
          </a:xfrm>
          <a:prstGeom prst="rect">
            <a:avLst/>
          </a:prstGeom>
          <a:noFill/>
        </p:spPr>
        <p:txBody>
          <a:bodyPr wrap="square" lIns="0" rIns="0" tIns="0" bIns="0">
            <a:spAutoFit/>
          </a:bodyPr>
          <a:lstStyle/>
          <a:p>
            <a:pPr>
              <a:lnSpc>
                <a:spcPct val="120000"/>
              </a:lnSpc>
            </a:pPr>
            <a:r>
              <a:rPr sz="1400" b="1" i="0">
                <a:solidFill>
                  <a:srgbClr val="2E3D26"/>
                </a:solidFill>
                <a:latin typeface="DM Sans"/>
              </a:rPr>
              <a:t>Definition</a:t>
            </a:r>
          </a:p>
        </p:txBody>
      </p:sp>
      <p:sp>
        <p:nvSpPr>
          <p:cNvPr id="11" name="TextBox 10"/>
          <p:cNvSpPr txBox="1"/>
          <p:nvPr/>
        </p:nvSpPr>
        <p:spPr>
          <a:xfrm>
            <a:off x="1691640" y="2286000"/>
            <a:ext cx="4507992" cy="594360"/>
          </a:xfrm>
          <a:prstGeom prst="rect">
            <a:avLst/>
          </a:prstGeom>
          <a:noFill/>
        </p:spPr>
        <p:txBody>
          <a:bodyPr wrap="square" lIns="0" rIns="0" tIns="0" bIns="0">
            <a:spAutoFit/>
          </a:bodyPr>
          <a:lstStyle/>
          <a:p>
            <a:pPr>
              <a:lnSpc>
                <a:spcPct val="135000"/>
              </a:lnSpc>
            </a:pPr>
            <a:r>
              <a:rPr sz="1000" b="0" i="0">
                <a:solidFill>
                  <a:srgbClr val="2E3D26"/>
                </a:solidFill>
                <a:latin typeface="DM Sans"/>
              </a:rPr>
              <a:t>CIP surveys customized for Altadena — by area, across six categories (Mobility · Stormwater · Sewer · Water · Energy · Multi-Benefit). Plain-language briefs in EN + ES.</a:t>
            </a:r>
          </a:p>
        </p:txBody>
      </p:sp>
      <p:sp>
        <p:nvSpPr>
          <p:cNvPr id="12" name="TextBox 11"/>
          <p:cNvSpPr txBox="1"/>
          <p:nvPr/>
        </p:nvSpPr>
        <p:spPr>
          <a:xfrm>
            <a:off x="1188720" y="3246120"/>
            <a:ext cx="502920" cy="365760"/>
          </a:xfrm>
          <a:prstGeom prst="rect">
            <a:avLst/>
          </a:prstGeom>
          <a:noFill/>
        </p:spPr>
        <p:txBody>
          <a:bodyPr wrap="square" lIns="0" rIns="0" tIns="0" bIns="0">
            <a:spAutoFit/>
          </a:bodyPr>
          <a:lstStyle/>
          <a:p>
            <a:pPr>
              <a:lnSpc>
                <a:spcPct val="120000"/>
              </a:lnSpc>
            </a:pPr>
            <a:r>
              <a:rPr sz="2200" b="0" i="0">
                <a:solidFill>
                  <a:srgbClr val="E5905A"/>
                </a:solidFill>
                <a:latin typeface="DM Serif Display"/>
              </a:rPr>
              <a:t>02</a:t>
            </a:r>
          </a:p>
        </p:txBody>
      </p:sp>
      <p:sp>
        <p:nvSpPr>
          <p:cNvPr id="13" name="TextBox 12"/>
          <p:cNvSpPr txBox="1"/>
          <p:nvPr/>
        </p:nvSpPr>
        <p:spPr>
          <a:xfrm>
            <a:off x="1691640" y="3246120"/>
            <a:ext cx="4507992" cy="256032"/>
          </a:xfrm>
          <a:prstGeom prst="rect">
            <a:avLst/>
          </a:prstGeom>
          <a:noFill/>
        </p:spPr>
        <p:txBody>
          <a:bodyPr wrap="square" lIns="0" rIns="0" tIns="0" bIns="0">
            <a:spAutoFit/>
          </a:bodyPr>
          <a:lstStyle/>
          <a:p>
            <a:pPr>
              <a:lnSpc>
                <a:spcPct val="120000"/>
              </a:lnSpc>
            </a:pPr>
            <a:r>
              <a:rPr sz="1400" b="1" i="0">
                <a:solidFill>
                  <a:srgbClr val="2E3D26"/>
                </a:solidFill>
                <a:latin typeface="DM Sans"/>
              </a:rPr>
              <a:t>Training &amp; Distribution</a:t>
            </a:r>
          </a:p>
        </p:txBody>
      </p:sp>
      <p:sp>
        <p:nvSpPr>
          <p:cNvPr id="14" name="TextBox 13"/>
          <p:cNvSpPr txBox="1"/>
          <p:nvPr/>
        </p:nvSpPr>
        <p:spPr>
          <a:xfrm>
            <a:off x="1691640" y="3520440"/>
            <a:ext cx="4507992" cy="594360"/>
          </a:xfrm>
          <a:prstGeom prst="rect">
            <a:avLst/>
          </a:prstGeom>
          <a:noFill/>
        </p:spPr>
        <p:txBody>
          <a:bodyPr wrap="square" lIns="0" rIns="0" tIns="0" bIns="0">
            <a:spAutoFit/>
          </a:bodyPr>
          <a:lstStyle/>
          <a:p>
            <a:pPr>
              <a:lnSpc>
                <a:spcPct val="135000"/>
              </a:lnSpc>
            </a:pPr>
            <a:r>
              <a:rPr sz="1000" b="0" i="0">
                <a:solidFill>
                  <a:srgbClr val="2E3D26"/>
                </a:solidFill>
                <a:latin typeface="DM Sans"/>
              </a:rPr>
              <a:t>Altagether's 150+ captains + commercial-owner network + QR signage at storefronts and yards.</a:t>
            </a:r>
          </a:p>
        </p:txBody>
      </p:sp>
      <p:sp>
        <p:nvSpPr>
          <p:cNvPr id="15" name="Rounded Rectangle 14"/>
          <p:cNvSpPr/>
          <p:nvPr/>
        </p:nvSpPr>
        <p:spPr>
          <a:xfrm>
            <a:off x="6455664" y="1554480"/>
            <a:ext cx="5650992"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55664" y="1554480"/>
            <a:ext cx="365760" cy="292608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011680"/>
            <a:ext cx="365760" cy="274320"/>
          </a:xfrm>
          <a:prstGeom prst="rect">
            <a:avLst/>
          </a:prstGeom>
          <a:noFill/>
        </p:spPr>
        <p:txBody>
          <a:bodyPr wrap="square" lIns="0" rIns="0" tIns="0" bIns="0">
            <a:spAutoFit/>
          </a:bodyPr>
          <a:lstStyle/>
          <a:p>
            <a:pPr algn="ctr">
              <a:lnSpc>
                <a:spcPct val="120000"/>
              </a:lnSpc>
            </a:pPr>
            <a:r>
              <a:rPr sz="1600" b="1" i="0">
                <a:solidFill>
                  <a:srgbClr val="7A8A6E"/>
                </a:solidFill>
                <a:latin typeface="DM Sans"/>
              </a:rPr>
              <a:t>↑</a:t>
            </a:r>
          </a:p>
        </p:txBody>
      </p:sp>
      <p:sp>
        <p:nvSpPr>
          <p:cNvPr id="18" name="TextBox 17"/>
          <p:cNvSpPr txBox="1"/>
          <p:nvPr/>
        </p:nvSpPr>
        <p:spPr>
          <a:xfrm>
            <a:off x="6455664" y="2468880"/>
            <a:ext cx="365760" cy="274320"/>
          </a:xfrm>
          <a:prstGeom prst="rect">
            <a:avLst/>
          </a:prstGeom>
          <a:noFill/>
        </p:spPr>
        <p:txBody>
          <a:bodyPr wrap="square" lIns="0" rIns="0" tIns="0" bIns="0">
            <a:spAutoFit/>
          </a:bodyPr>
          <a:lstStyle/>
          <a:p>
            <a:pPr algn="ctr">
              <a:lnSpc>
                <a:spcPct val="120000"/>
              </a:lnSpc>
            </a:pPr>
            <a:r>
              <a:rPr sz="1600" b="1" i="0">
                <a:solidFill>
                  <a:srgbClr val="7A8A6E"/>
                </a:solidFill>
                <a:latin typeface="DM Sans"/>
              </a:rPr>
              <a:t>↑</a:t>
            </a:r>
          </a:p>
        </p:txBody>
      </p:sp>
      <p:sp>
        <p:nvSpPr>
          <p:cNvPr id="19" name="TextBox 18"/>
          <p:cNvSpPr txBox="1"/>
          <p:nvPr/>
        </p:nvSpPr>
        <p:spPr>
          <a:xfrm>
            <a:off x="7004304" y="1691640"/>
            <a:ext cx="5010912" cy="228600"/>
          </a:xfrm>
          <a:prstGeom prst="rect">
            <a:avLst/>
          </a:prstGeom>
          <a:noFill/>
        </p:spPr>
        <p:txBody>
          <a:bodyPr wrap="square" lIns="0" rIns="0" tIns="0" bIns="0">
            <a:spAutoFit/>
          </a:bodyPr>
          <a:lstStyle/>
          <a:p>
            <a:pPr>
              <a:lnSpc>
                <a:spcPct val="120000"/>
              </a:lnSpc>
            </a:pPr>
            <a:r>
              <a:rPr sz="900" b="1" i="0">
                <a:solidFill>
                  <a:srgbClr val="7A8A6E"/>
                </a:solidFill>
                <a:latin typeface="DM Sans"/>
              </a:rPr>
              <a:t>↑ CONSENSUS FLOWS UP</a:t>
            </a:r>
          </a:p>
        </p:txBody>
      </p:sp>
      <p:sp>
        <p:nvSpPr>
          <p:cNvPr id="20" name="TextBox 19"/>
          <p:cNvSpPr txBox="1"/>
          <p:nvPr/>
        </p:nvSpPr>
        <p:spPr>
          <a:xfrm>
            <a:off x="7004304" y="2011680"/>
            <a:ext cx="502920" cy="365760"/>
          </a:xfrm>
          <a:prstGeom prst="rect">
            <a:avLst/>
          </a:prstGeom>
          <a:noFill/>
        </p:spPr>
        <p:txBody>
          <a:bodyPr wrap="square" lIns="0" rIns="0" tIns="0" bIns="0">
            <a:spAutoFit/>
          </a:bodyPr>
          <a:lstStyle/>
          <a:p>
            <a:pPr>
              <a:lnSpc>
                <a:spcPct val="120000"/>
              </a:lnSpc>
            </a:pPr>
            <a:r>
              <a:rPr sz="2200" b="0" i="0">
                <a:solidFill>
                  <a:srgbClr val="7A8A6E"/>
                </a:solidFill>
                <a:latin typeface="DM Serif Display"/>
              </a:rPr>
              <a:t>05</a:t>
            </a:r>
          </a:p>
        </p:txBody>
      </p:sp>
      <p:sp>
        <p:nvSpPr>
          <p:cNvPr id="21" name="TextBox 20"/>
          <p:cNvSpPr txBox="1"/>
          <p:nvPr/>
        </p:nvSpPr>
        <p:spPr>
          <a:xfrm>
            <a:off x="7507224" y="2011680"/>
            <a:ext cx="4507992" cy="256032"/>
          </a:xfrm>
          <a:prstGeom prst="rect">
            <a:avLst/>
          </a:prstGeom>
          <a:noFill/>
        </p:spPr>
        <p:txBody>
          <a:bodyPr wrap="square" lIns="0" rIns="0" tIns="0" bIns="0">
            <a:spAutoFit/>
          </a:bodyPr>
          <a:lstStyle/>
          <a:p>
            <a:pPr>
              <a:lnSpc>
                <a:spcPct val="120000"/>
              </a:lnSpc>
            </a:pPr>
            <a:r>
              <a:rPr sz="1400" b="1" i="0">
                <a:solidFill>
                  <a:srgbClr val="2E3D26"/>
                </a:solidFill>
                <a:latin typeface="DM Sans"/>
              </a:rPr>
              <a:t>Shared record</a:t>
            </a:r>
          </a:p>
        </p:txBody>
      </p:sp>
      <p:sp>
        <p:nvSpPr>
          <p:cNvPr id="22" name="TextBox 21"/>
          <p:cNvSpPr txBox="1"/>
          <p:nvPr/>
        </p:nvSpPr>
        <p:spPr>
          <a:xfrm>
            <a:off x="7507224" y="2286000"/>
            <a:ext cx="4507992" cy="594360"/>
          </a:xfrm>
          <a:prstGeom prst="rect">
            <a:avLst/>
          </a:prstGeom>
          <a:noFill/>
        </p:spPr>
        <p:txBody>
          <a:bodyPr wrap="square" lIns="0" rIns="0" tIns="0" bIns="0">
            <a:spAutoFit/>
          </a:bodyPr>
          <a:lstStyle/>
          <a:p>
            <a:pPr>
              <a:lnSpc>
                <a:spcPct val="135000"/>
              </a:lnSpc>
            </a:pPr>
            <a:r>
              <a:rPr sz="1000" b="0" i="0">
                <a:solidFill>
                  <a:srgbClr val="2E3D26"/>
                </a:solidFill>
                <a:latin typeface="DM Sans"/>
              </a:rPr>
              <a:t>Structured packets to CIP — manually plotted on map. No automated dashboard yet.</a:t>
            </a:r>
          </a:p>
        </p:txBody>
      </p:sp>
      <p:sp>
        <p:nvSpPr>
          <p:cNvPr id="23" name="TextBox 22"/>
          <p:cNvSpPr txBox="1"/>
          <p:nvPr/>
        </p:nvSpPr>
        <p:spPr>
          <a:xfrm>
            <a:off x="7004304" y="3246120"/>
            <a:ext cx="502920" cy="365760"/>
          </a:xfrm>
          <a:prstGeom prst="rect">
            <a:avLst/>
          </a:prstGeom>
          <a:noFill/>
        </p:spPr>
        <p:txBody>
          <a:bodyPr wrap="square" lIns="0" rIns="0" tIns="0" bIns="0">
            <a:spAutoFit/>
          </a:bodyPr>
          <a:lstStyle/>
          <a:p>
            <a:pPr>
              <a:lnSpc>
                <a:spcPct val="120000"/>
              </a:lnSpc>
            </a:pPr>
            <a:r>
              <a:rPr sz="2200" b="0" i="0">
                <a:solidFill>
                  <a:srgbClr val="7A8A6E"/>
                </a:solidFill>
                <a:latin typeface="DM Serif Display"/>
              </a:rPr>
              <a:t>04</a:t>
            </a:r>
          </a:p>
        </p:txBody>
      </p:sp>
      <p:sp>
        <p:nvSpPr>
          <p:cNvPr id="24" name="TextBox 23"/>
          <p:cNvSpPr txBox="1"/>
          <p:nvPr/>
        </p:nvSpPr>
        <p:spPr>
          <a:xfrm>
            <a:off x="7507224" y="3246120"/>
            <a:ext cx="4507992" cy="256032"/>
          </a:xfrm>
          <a:prstGeom prst="rect">
            <a:avLst/>
          </a:prstGeom>
          <a:noFill/>
        </p:spPr>
        <p:txBody>
          <a:bodyPr wrap="square" lIns="0" rIns="0" tIns="0" bIns="0">
            <a:spAutoFit/>
          </a:bodyPr>
          <a:lstStyle/>
          <a:p>
            <a:pPr>
              <a:lnSpc>
                <a:spcPct val="120000"/>
              </a:lnSpc>
            </a:pPr>
            <a:r>
              <a:rPr sz="1400" b="1" i="0">
                <a:solidFill>
                  <a:srgbClr val="2E3D26"/>
                </a:solidFill>
                <a:latin typeface="DM Sans"/>
              </a:rPr>
              <a:t>Aggregation</a:t>
            </a:r>
          </a:p>
        </p:txBody>
      </p:sp>
      <p:sp>
        <p:nvSpPr>
          <p:cNvPr id="25" name="TextBox 24"/>
          <p:cNvSpPr txBox="1"/>
          <p:nvPr/>
        </p:nvSpPr>
        <p:spPr>
          <a:xfrm>
            <a:off x="7507224" y="3520440"/>
            <a:ext cx="4507992" cy="594360"/>
          </a:xfrm>
          <a:prstGeom prst="rect">
            <a:avLst/>
          </a:prstGeom>
          <a:noFill/>
        </p:spPr>
        <p:txBody>
          <a:bodyPr wrap="square" lIns="0" rIns="0" tIns="0" bIns="0">
            <a:spAutoFit/>
          </a:bodyPr>
          <a:lstStyle/>
          <a:p>
            <a:pPr>
              <a:lnSpc>
                <a:spcPct val="135000"/>
              </a:lnSpc>
            </a:pPr>
            <a:r>
              <a:rPr sz="1000" b="0" i="0">
                <a:solidFill>
                  <a:srgbClr val="2E3D26"/>
                </a:solidFill>
                <a:latin typeface="DM Sans"/>
              </a:rPr>
              <a:t>Decision-record cards · shared Google docs · per-category compilation. Manual — no dashboard yet.</a:t>
            </a:r>
          </a:p>
        </p:txBody>
      </p:sp>
      <p:sp>
        <p:nvSpPr>
          <p:cNvPr id="26" name="Rounded Rectangle 25"/>
          <p:cNvSpPr/>
          <p:nvPr/>
        </p:nvSpPr>
        <p:spPr>
          <a:xfrm>
            <a:off x="640080" y="4590288"/>
            <a:ext cx="11466576" cy="1188720"/>
          </a:xfrm>
          <a:prstGeom prst="roundRect">
            <a:avLst>
              <a:gd name="adj" fmla="val 6000"/>
            </a:avLst>
          </a:prstGeom>
          <a:solidFill>
            <a:srgbClr val="2E3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0080" y="4590288"/>
            <a:ext cx="365760" cy="1188720"/>
          </a:xfrm>
          <a:prstGeom prst="roundRect">
            <a:avLst>
              <a:gd name="adj" fmla="val 6000"/>
            </a:avLst>
          </a:prstGeom>
          <a:solidFill>
            <a:srgbClr val="5A69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4864608"/>
            <a:ext cx="365760" cy="228600"/>
          </a:xfrm>
          <a:prstGeom prst="rect">
            <a:avLst/>
          </a:prstGeom>
          <a:noFill/>
        </p:spPr>
        <p:txBody>
          <a:bodyPr wrap="square" lIns="0" rIns="0" tIns="0" bIns="0">
            <a:spAutoFit/>
          </a:bodyPr>
          <a:lstStyle/>
          <a:p>
            <a:pPr algn="ctr">
              <a:lnSpc>
                <a:spcPct val="120000"/>
              </a:lnSpc>
            </a:pPr>
            <a:r>
              <a:rPr sz="1800" b="1" i="0">
                <a:solidFill>
                  <a:srgbClr val="FAF6F0"/>
                </a:solidFill>
                <a:latin typeface="DM Sans"/>
              </a:rPr>
              <a:t>•</a:t>
            </a:r>
          </a:p>
        </p:txBody>
      </p:sp>
      <p:sp>
        <p:nvSpPr>
          <p:cNvPr id="29" name="TextBox 28"/>
          <p:cNvSpPr txBox="1"/>
          <p:nvPr/>
        </p:nvSpPr>
        <p:spPr>
          <a:xfrm>
            <a:off x="640080" y="5138928"/>
            <a:ext cx="365760" cy="228600"/>
          </a:xfrm>
          <a:prstGeom prst="rect">
            <a:avLst/>
          </a:prstGeom>
          <a:noFill/>
        </p:spPr>
        <p:txBody>
          <a:bodyPr wrap="square" lIns="0" rIns="0" tIns="0" bIns="0">
            <a:spAutoFit/>
          </a:bodyPr>
          <a:lstStyle/>
          <a:p>
            <a:pPr algn="ctr">
              <a:lnSpc>
                <a:spcPct val="120000"/>
              </a:lnSpc>
            </a:pPr>
            <a:r>
              <a:rPr sz="1800" b="1" i="0">
                <a:solidFill>
                  <a:srgbClr val="FAF6F0"/>
                </a:solidFill>
                <a:latin typeface="DM Sans"/>
              </a:rPr>
              <a:t>•</a:t>
            </a:r>
          </a:p>
        </p:txBody>
      </p:sp>
      <p:sp>
        <p:nvSpPr>
          <p:cNvPr id="30" name="TextBox 29"/>
          <p:cNvSpPr txBox="1"/>
          <p:nvPr/>
        </p:nvSpPr>
        <p:spPr>
          <a:xfrm>
            <a:off x="1188720" y="4700016"/>
            <a:ext cx="10826496" cy="201168"/>
          </a:xfrm>
          <a:prstGeom prst="rect">
            <a:avLst/>
          </a:prstGeom>
          <a:noFill/>
        </p:spPr>
        <p:txBody>
          <a:bodyPr wrap="square" lIns="0" rIns="0" tIns="0" bIns="0">
            <a:spAutoFit/>
          </a:bodyPr>
          <a:lstStyle/>
          <a:p>
            <a:pPr>
              <a:lnSpc>
                <a:spcPct val="120000"/>
              </a:lnSpc>
            </a:pPr>
            <a:r>
              <a:rPr sz="900" b="1" i="0">
                <a:solidFill>
                  <a:srgbClr val="E5905A"/>
                </a:solidFill>
                <a:latin typeface="DM Sans"/>
              </a:rPr>
              <a:t>DELIBERATION</a:t>
            </a:r>
          </a:p>
        </p:txBody>
      </p:sp>
      <p:sp>
        <p:nvSpPr>
          <p:cNvPr id="31" name="TextBox 30"/>
          <p:cNvSpPr txBox="1"/>
          <p:nvPr/>
        </p:nvSpPr>
        <p:spPr>
          <a:xfrm>
            <a:off x="1188720" y="4910328"/>
            <a:ext cx="502920" cy="365760"/>
          </a:xfrm>
          <a:prstGeom prst="rect">
            <a:avLst/>
          </a:prstGeom>
          <a:noFill/>
        </p:spPr>
        <p:txBody>
          <a:bodyPr wrap="square" lIns="0" rIns="0" tIns="0" bIns="0">
            <a:spAutoFit/>
          </a:bodyPr>
          <a:lstStyle/>
          <a:p>
            <a:pPr>
              <a:lnSpc>
                <a:spcPct val="120000"/>
              </a:lnSpc>
            </a:pPr>
            <a:r>
              <a:rPr sz="2000" b="0" i="0">
                <a:solidFill>
                  <a:srgbClr val="E5905A"/>
                </a:solidFill>
                <a:latin typeface="DM Serif Display"/>
              </a:rPr>
              <a:t>03</a:t>
            </a:r>
          </a:p>
        </p:txBody>
      </p:sp>
      <p:sp>
        <p:nvSpPr>
          <p:cNvPr id="32" name="TextBox 31"/>
          <p:cNvSpPr txBox="1"/>
          <p:nvPr/>
        </p:nvSpPr>
        <p:spPr>
          <a:xfrm>
            <a:off x="1691640" y="4910328"/>
            <a:ext cx="10323576" cy="256032"/>
          </a:xfrm>
          <a:prstGeom prst="rect">
            <a:avLst/>
          </a:prstGeom>
          <a:noFill/>
        </p:spPr>
        <p:txBody>
          <a:bodyPr wrap="square" lIns="0" rIns="0" tIns="0" bIns="0">
            <a:spAutoFit/>
          </a:bodyPr>
          <a:lstStyle/>
          <a:p>
            <a:pPr>
              <a:lnSpc>
                <a:spcPct val="120000"/>
              </a:lnSpc>
            </a:pPr>
            <a:r>
              <a:rPr sz="1300" b="1" i="0">
                <a:solidFill>
                  <a:srgbClr val="FAF6F0"/>
                </a:solidFill>
                <a:latin typeface="DM Sans"/>
              </a:rPr>
              <a:t>Facilitating Discussion</a:t>
            </a:r>
          </a:p>
        </p:txBody>
      </p:sp>
      <p:sp>
        <p:nvSpPr>
          <p:cNvPr id="33" name="TextBox 32"/>
          <p:cNvSpPr txBox="1"/>
          <p:nvPr/>
        </p:nvSpPr>
        <p:spPr>
          <a:xfrm>
            <a:off x="1691640" y="5184648"/>
            <a:ext cx="10323576" cy="457200"/>
          </a:xfrm>
          <a:prstGeom prst="rect">
            <a:avLst/>
          </a:prstGeom>
          <a:noFill/>
        </p:spPr>
        <p:txBody>
          <a:bodyPr wrap="square" lIns="0" rIns="0" tIns="0" bIns="0">
            <a:spAutoFit/>
          </a:bodyPr>
          <a:lstStyle/>
          <a:p>
            <a:pPr>
              <a:lnSpc>
                <a:spcPct val="135000"/>
              </a:lnSpc>
            </a:pPr>
            <a:r>
              <a:rPr sz="1000" b="0" i="0">
                <a:solidFill>
                  <a:srgbClr val="FAF6F0"/>
                </a:solidFill>
                <a:latin typeface="DM Sans"/>
              </a:rPr>
              <a:t>Walking tours · Zoom calls · facilitated input sessions · Design Fair for commercial owners and adjacent residents.</a:t>
            </a:r>
          </a:p>
        </p:txBody>
      </p:sp>
      <p:sp>
        <p:nvSpPr>
          <p:cNvPr id="34" name="Rounded Rectangle 33"/>
          <p:cNvSpPr/>
          <p:nvPr/>
        </p:nvSpPr>
        <p:spPr>
          <a:xfrm>
            <a:off x="640080" y="5870448"/>
            <a:ext cx="11466576" cy="36576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870448"/>
            <a:ext cx="11100816" cy="365760"/>
          </a:xfrm>
          <a:prstGeom prst="rect">
            <a:avLst/>
          </a:prstGeom>
          <a:noFill/>
        </p:spPr>
        <p:txBody>
          <a:bodyPr wrap="square" anchor="ctr" lIns="0" rIns="0" tIns="0" bIns="0">
            <a:spAutoFit/>
          </a:bodyPr>
          <a:lstStyle/>
          <a:p>
            <a:pPr algn="ctr">
              <a:lnSpc>
                <a:spcPct val="120000"/>
              </a:lnSpc>
            </a:pPr>
            <a:r>
              <a:rPr sz="1000" b="0" i="1">
                <a:solidFill>
                  <a:srgbClr val="2E3D26"/>
                </a:solidFill>
                <a:latin typeface="DM Sans"/>
              </a:rPr>
              <a:t>Fair Oaks is the hand-hacked version — the framework works while we build the automated tools (real-time dashboard, auto-aggregation) once funded.</a:t>
            </a:r>
          </a:p>
        </p:txBody>
      </p:sp>
      <p:cxnSp>
        <p:nvCxnSpPr>
          <p:cNvPr id="36" name="Connector 35"/>
          <p:cNvCxnSpPr/>
          <p:nvPr/>
        </p:nvCxnSpPr>
        <p:spPr>
          <a:xfrm>
            <a:off x="640080" y="6446520"/>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6519672"/>
            <a:ext cx="10972800" cy="274320"/>
          </a:xfrm>
          <a:prstGeom prst="rect">
            <a:avLst/>
          </a:prstGeom>
          <a:noFill/>
        </p:spPr>
        <p:txBody>
          <a:bodyPr wrap="square" lIns="0" rIns="0" tIns="0" bIns="0">
            <a:spAutoFit/>
          </a:bodyPr>
          <a:lstStyle/>
          <a:p>
            <a:pPr algn="ctr">
              <a:lnSpc>
                <a:spcPct val="100000"/>
              </a:lnSpc>
            </a:pPr>
            <a:r>
              <a:rPr sz="900" b="0" i="0">
                <a:solidFill>
                  <a:srgbClr val="5A6953"/>
                </a:solidFill>
                <a:latin typeface="DM Sans"/>
              </a:rPr>
              <a:t>ALTADENA VILLAGE  ·  COLAB  ·  ALTING  ·  ALTAGETHER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spAutoFit/>
          </a:bodyPr>
          <a:lstStyle/>
          <a:p>
            <a:pPr>
              <a:lnSpc>
                <a:spcPct val="100000"/>
              </a:lnSpc>
            </a:pPr>
            <a:r>
              <a:rPr sz="1100" b="1" i="0">
                <a:solidFill>
                  <a:srgbClr val="E5905A"/>
                </a:solidFill>
                <a:latin typeface="DM Sans"/>
              </a:rPr>
              <a:t>PROJECT PLAN</a:t>
            </a:r>
          </a:p>
        </p:txBody>
      </p:sp>
      <p:sp>
        <p:nvSpPr>
          <p:cNvPr id="3" name="TextBox 2"/>
          <p:cNvSpPr txBox="1"/>
          <p:nvPr/>
        </p:nvSpPr>
        <p:spPr>
          <a:xfrm>
            <a:off x="640080" y="777240"/>
            <a:ext cx="10972800" cy="1097280"/>
          </a:xfrm>
          <a:prstGeom prst="rect">
            <a:avLst/>
          </a:prstGeom>
          <a:noFill/>
        </p:spPr>
        <p:txBody>
          <a:bodyPr wrap="square" lIns="0" rIns="0" tIns="0" bIns="0">
            <a:spAutoFit/>
          </a:bodyPr>
          <a:lstStyle/>
          <a:p>
            <a:pPr>
              <a:lnSpc>
                <a:spcPct val="110000"/>
              </a:lnSpc>
            </a:pPr>
            <a:r>
              <a:rPr sz="2800" b="0" i="0">
                <a:solidFill>
                  <a:srgbClr val="2E3D26"/>
                </a:solidFill>
                <a:latin typeface="DM Serif Display"/>
              </a:rPr>
              <a:t>What happens after endorsement</a:t>
            </a:r>
          </a:p>
        </p:txBody>
      </p:sp>
      <p:sp>
        <p:nvSpPr>
          <p:cNvPr id="4" name="Rectangle 3"/>
          <p:cNvSpPr/>
          <p:nvPr/>
        </p:nvSpPr>
        <p:spPr>
          <a:xfrm>
            <a:off x="2468880" y="1645920"/>
            <a:ext cx="4399926" cy="228600"/>
          </a:xfrm>
          <a:prstGeom prst="rect">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68880" y="1645920"/>
            <a:ext cx="4418214" cy="228600"/>
          </a:xfrm>
          <a:prstGeom prst="rect">
            <a:avLst/>
          </a:prstGeom>
          <a:noFill/>
        </p:spPr>
        <p:txBody>
          <a:bodyPr wrap="square" anchor="ctr" lIns="0" rIns="0" tIns="0" bIns="0">
            <a:spAutoFit/>
          </a:bodyPr>
          <a:lstStyle/>
          <a:p>
            <a:pPr algn="ctr">
              <a:lnSpc>
                <a:spcPct val="120000"/>
              </a:lnSpc>
            </a:pPr>
            <a:r>
              <a:rPr sz="900" b="1" i="0">
                <a:solidFill>
                  <a:srgbClr val="2E3D26"/>
                </a:solidFill>
                <a:latin typeface="DM Sans"/>
              </a:rPr>
              <a:t>2026</a:t>
            </a:r>
          </a:p>
        </p:txBody>
      </p:sp>
      <p:sp>
        <p:nvSpPr>
          <p:cNvPr id="6" name="Rectangle 5"/>
          <p:cNvSpPr/>
          <p:nvPr/>
        </p:nvSpPr>
        <p:spPr>
          <a:xfrm>
            <a:off x="6887094" y="1645920"/>
            <a:ext cx="5301857" cy="228600"/>
          </a:xfrm>
          <a:prstGeom prst="rect">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87094" y="1645920"/>
            <a:ext cx="5301857" cy="228600"/>
          </a:xfrm>
          <a:prstGeom prst="rect">
            <a:avLst/>
          </a:prstGeom>
          <a:noFill/>
        </p:spPr>
        <p:txBody>
          <a:bodyPr wrap="square" anchor="ctr" lIns="0" rIns="0" tIns="0" bIns="0">
            <a:spAutoFit/>
          </a:bodyPr>
          <a:lstStyle/>
          <a:p>
            <a:pPr algn="ctr">
              <a:lnSpc>
                <a:spcPct val="120000"/>
              </a:lnSpc>
            </a:pPr>
            <a:r>
              <a:rPr sz="900" b="1" i="0">
                <a:solidFill>
                  <a:srgbClr val="2E3D26"/>
                </a:solidFill>
                <a:latin typeface="DM Sans"/>
              </a:rPr>
              <a:t>2027</a:t>
            </a:r>
          </a:p>
        </p:txBody>
      </p:sp>
      <p:sp>
        <p:nvSpPr>
          <p:cNvPr id="8" name="TextBox 7"/>
          <p:cNvSpPr txBox="1"/>
          <p:nvPr/>
        </p:nvSpPr>
        <p:spPr>
          <a:xfrm>
            <a:off x="2468880"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MAR</a:t>
            </a:r>
          </a:p>
        </p:txBody>
      </p:sp>
      <p:sp>
        <p:nvSpPr>
          <p:cNvPr id="9" name="TextBox 8"/>
          <p:cNvSpPr txBox="1"/>
          <p:nvPr/>
        </p:nvSpPr>
        <p:spPr>
          <a:xfrm>
            <a:off x="2910701"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APR</a:t>
            </a:r>
          </a:p>
        </p:txBody>
      </p:sp>
      <p:sp>
        <p:nvSpPr>
          <p:cNvPr id="10" name="TextBox 9"/>
          <p:cNvSpPr txBox="1"/>
          <p:nvPr/>
        </p:nvSpPr>
        <p:spPr>
          <a:xfrm>
            <a:off x="3352522"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MAY</a:t>
            </a:r>
          </a:p>
        </p:txBody>
      </p:sp>
      <p:sp>
        <p:nvSpPr>
          <p:cNvPr id="11" name="TextBox 10"/>
          <p:cNvSpPr txBox="1"/>
          <p:nvPr/>
        </p:nvSpPr>
        <p:spPr>
          <a:xfrm>
            <a:off x="3794344"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JUN</a:t>
            </a:r>
          </a:p>
        </p:txBody>
      </p:sp>
      <p:sp>
        <p:nvSpPr>
          <p:cNvPr id="12" name="TextBox 11"/>
          <p:cNvSpPr txBox="1"/>
          <p:nvPr/>
        </p:nvSpPr>
        <p:spPr>
          <a:xfrm>
            <a:off x="4236165"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JUL</a:t>
            </a:r>
          </a:p>
        </p:txBody>
      </p:sp>
      <p:sp>
        <p:nvSpPr>
          <p:cNvPr id="13" name="TextBox 12"/>
          <p:cNvSpPr txBox="1"/>
          <p:nvPr/>
        </p:nvSpPr>
        <p:spPr>
          <a:xfrm>
            <a:off x="4677987"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AUG</a:t>
            </a:r>
          </a:p>
        </p:txBody>
      </p:sp>
      <p:sp>
        <p:nvSpPr>
          <p:cNvPr id="14" name="TextBox 13"/>
          <p:cNvSpPr txBox="1"/>
          <p:nvPr/>
        </p:nvSpPr>
        <p:spPr>
          <a:xfrm>
            <a:off x="5119808"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SEP</a:t>
            </a:r>
          </a:p>
        </p:txBody>
      </p:sp>
      <p:sp>
        <p:nvSpPr>
          <p:cNvPr id="15" name="TextBox 14"/>
          <p:cNvSpPr txBox="1"/>
          <p:nvPr/>
        </p:nvSpPr>
        <p:spPr>
          <a:xfrm>
            <a:off x="5561630"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OCT</a:t>
            </a:r>
          </a:p>
        </p:txBody>
      </p:sp>
      <p:sp>
        <p:nvSpPr>
          <p:cNvPr id="16" name="TextBox 15"/>
          <p:cNvSpPr txBox="1"/>
          <p:nvPr/>
        </p:nvSpPr>
        <p:spPr>
          <a:xfrm>
            <a:off x="6003451"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NOV</a:t>
            </a:r>
          </a:p>
        </p:txBody>
      </p:sp>
      <p:sp>
        <p:nvSpPr>
          <p:cNvPr id="17" name="TextBox 16"/>
          <p:cNvSpPr txBox="1"/>
          <p:nvPr/>
        </p:nvSpPr>
        <p:spPr>
          <a:xfrm>
            <a:off x="6445273"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DEC</a:t>
            </a:r>
          </a:p>
        </p:txBody>
      </p:sp>
      <p:sp>
        <p:nvSpPr>
          <p:cNvPr id="18" name="TextBox 17"/>
          <p:cNvSpPr txBox="1"/>
          <p:nvPr/>
        </p:nvSpPr>
        <p:spPr>
          <a:xfrm>
            <a:off x="6887094"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JAN</a:t>
            </a:r>
          </a:p>
        </p:txBody>
      </p:sp>
      <p:sp>
        <p:nvSpPr>
          <p:cNvPr id="19" name="TextBox 18"/>
          <p:cNvSpPr txBox="1"/>
          <p:nvPr/>
        </p:nvSpPr>
        <p:spPr>
          <a:xfrm>
            <a:off x="7328916"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FEB</a:t>
            </a:r>
          </a:p>
        </p:txBody>
      </p:sp>
      <p:sp>
        <p:nvSpPr>
          <p:cNvPr id="20" name="TextBox 19"/>
          <p:cNvSpPr txBox="1"/>
          <p:nvPr/>
        </p:nvSpPr>
        <p:spPr>
          <a:xfrm>
            <a:off x="7770737"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MAR</a:t>
            </a:r>
          </a:p>
        </p:txBody>
      </p:sp>
      <p:sp>
        <p:nvSpPr>
          <p:cNvPr id="21" name="TextBox 20"/>
          <p:cNvSpPr txBox="1"/>
          <p:nvPr/>
        </p:nvSpPr>
        <p:spPr>
          <a:xfrm>
            <a:off x="8212558"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APR</a:t>
            </a:r>
          </a:p>
        </p:txBody>
      </p:sp>
      <p:sp>
        <p:nvSpPr>
          <p:cNvPr id="22" name="TextBox 21"/>
          <p:cNvSpPr txBox="1"/>
          <p:nvPr/>
        </p:nvSpPr>
        <p:spPr>
          <a:xfrm>
            <a:off x="8654380"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MAY</a:t>
            </a:r>
          </a:p>
        </p:txBody>
      </p:sp>
      <p:sp>
        <p:nvSpPr>
          <p:cNvPr id="23" name="TextBox 22"/>
          <p:cNvSpPr txBox="1"/>
          <p:nvPr/>
        </p:nvSpPr>
        <p:spPr>
          <a:xfrm>
            <a:off x="9096201"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JUN</a:t>
            </a:r>
          </a:p>
        </p:txBody>
      </p:sp>
      <p:sp>
        <p:nvSpPr>
          <p:cNvPr id="24" name="TextBox 23"/>
          <p:cNvSpPr txBox="1"/>
          <p:nvPr/>
        </p:nvSpPr>
        <p:spPr>
          <a:xfrm>
            <a:off x="9538023"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JUL</a:t>
            </a:r>
          </a:p>
        </p:txBody>
      </p:sp>
      <p:sp>
        <p:nvSpPr>
          <p:cNvPr id="25" name="TextBox 24"/>
          <p:cNvSpPr txBox="1"/>
          <p:nvPr/>
        </p:nvSpPr>
        <p:spPr>
          <a:xfrm>
            <a:off x="9979844"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AUG</a:t>
            </a:r>
          </a:p>
        </p:txBody>
      </p:sp>
      <p:sp>
        <p:nvSpPr>
          <p:cNvPr id="26" name="TextBox 25"/>
          <p:cNvSpPr txBox="1"/>
          <p:nvPr/>
        </p:nvSpPr>
        <p:spPr>
          <a:xfrm>
            <a:off x="10421666"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SEP</a:t>
            </a:r>
          </a:p>
        </p:txBody>
      </p:sp>
      <p:sp>
        <p:nvSpPr>
          <p:cNvPr id="27" name="TextBox 26"/>
          <p:cNvSpPr txBox="1"/>
          <p:nvPr/>
        </p:nvSpPr>
        <p:spPr>
          <a:xfrm>
            <a:off x="10863487"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OCT</a:t>
            </a:r>
          </a:p>
        </p:txBody>
      </p:sp>
      <p:sp>
        <p:nvSpPr>
          <p:cNvPr id="28" name="TextBox 27"/>
          <p:cNvSpPr txBox="1"/>
          <p:nvPr/>
        </p:nvSpPr>
        <p:spPr>
          <a:xfrm>
            <a:off x="11305309"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NOV</a:t>
            </a:r>
          </a:p>
        </p:txBody>
      </p:sp>
      <p:sp>
        <p:nvSpPr>
          <p:cNvPr id="29" name="TextBox 28"/>
          <p:cNvSpPr txBox="1"/>
          <p:nvPr/>
        </p:nvSpPr>
        <p:spPr>
          <a:xfrm>
            <a:off x="11747130" y="1920240"/>
            <a:ext cx="441821" cy="201168"/>
          </a:xfrm>
          <a:prstGeom prst="rect">
            <a:avLst/>
          </a:prstGeom>
          <a:noFill/>
        </p:spPr>
        <p:txBody>
          <a:bodyPr wrap="square" lIns="0" rIns="0" tIns="0" bIns="0">
            <a:spAutoFit/>
          </a:bodyPr>
          <a:lstStyle/>
          <a:p>
            <a:pPr algn="ctr">
              <a:lnSpc>
                <a:spcPct val="120000"/>
              </a:lnSpc>
            </a:pPr>
            <a:r>
              <a:rPr sz="800" b="1" i="0">
                <a:solidFill>
                  <a:srgbClr val="5A6953"/>
                </a:solidFill>
                <a:latin typeface="DM Sans"/>
              </a:rPr>
              <a:t>DEC</a:t>
            </a:r>
          </a:p>
        </p:txBody>
      </p:sp>
      <p:cxnSp>
        <p:nvCxnSpPr>
          <p:cNvPr id="30" name="Connector 29"/>
          <p:cNvCxnSpPr/>
          <p:nvPr/>
        </p:nvCxnSpPr>
        <p:spPr>
          <a:xfrm>
            <a:off x="2468880" y="2139696"/>
            <a:ext cx="972007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2231136"/>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CAPS presentation</a:t>
            </a:r>
          </a:p>
        </p:txBody>
      </p:sp>
      <p:sp>
        <p:nvSpPr>
          <p:cNvPr id="32" name="TextBox 31"/>
          <p:cNvSpPr txBox="1"/>
          <p:nvPr/>
        </p:nvSpPr>
        <p:spPr>
          <a:xfrm>
            <a:off x="640080" y="2377440"/>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Today</a:t>
            </a:r>
          </a:p>
        </p:txBody>
      </p:sp>
      <p:sp>
        <p:nvSpPr>
          <p:cNvPr id="33" name="Rounded Rectangle 32"/>
          <p:cNvSpPr/>
          <p:nvPr/>
        </p:nvSpPr>
        <p:spPr>
          <a:xfrm>
            <a:off x="2468880" y="2231136"/>
            <a:ext cx="9720072" cy="292608"/>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361666" y="2249424"/>
            <a:ext cx="423533" cy="256032"/>
          </a:xfrm>
          <a:prstGeom prst="roundRect">
            <a:avLst>
              <a:gd name="adj" fmla="val 6000"/>
            </a:avLst>
          </a:prstGeom>
          <a:solidFill>
            <a:srgbClr val="E59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16530" y="2249424"/>
            <a:ext cx="313805" cy="256032"/>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May 21</a:t>
            </a:r>
          </a:p>
        </p:txBody>
      </p:sp>
      <p:sp>
        <p:nvSpPr>
          <p:cNvPr id="36" name="TextBox 35"/>
          <p:cNvSpPr txBox="1"/>
          <p:nvPr/>
        </p:nvSpPr>
        <p:spPr>
          <a:xfrm>
            <a:off x="640080" y="2578608"/>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ATC + Altagether ratification</a:t>
            </a:r>
          </a:p>
        </p:txBody>
      </p:sp>
      <p:sp>
        <p:nvSpPr>
          <p:cNvPr id="37" name="Rounded Rectangle 36"/>
          <p:cNvSpPr/>
          <p:nvPr/>
        </p:nvSpPr>
        <p:spPr>
          <a:xfrm>
            <a:off x="2468880" y="2578608"/>
            <a:ext cx="9720072" cy="292608"/>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803488" y="2596896"/>
            <a:ext cx="865354" cy="256032"/>
          </a:xfrm>
          <a:prstGeom prst="roundRect">
            <a:avLst>
              <a:gd name="adj" fmla="val 6000"/>
            </a:avLst>
          </a:prstGeom>
          <a:solidFill>
            <a:srgbClr val="E59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58352" y="2596896"/>
            <a:ext cx="755626" cy="256032"/>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Jun–Jul</a:t>
            </a:r>
          </a:p>
        </p:txBody>
      </p:sp>
      <p:sp>
        <p:nvSpPr>
          <p:cNvPr id="40" name="TextBox 39"/>
          <p:cNvSpPr txBox="1"/>
          <p:nvPr/>
        </p:nvSpPr>
        <p:spPr>
          <a:xfrm>
            <a:off x="640080" y="2926080"/>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EIFD advocacy</a:t>
            </a:r>
          </a:p>
        </p:txBody>
      </p:sp>
      <p:sp>
        <p:nvSpPr>
          <p:cNvPr id="41" name="TextBox 40"/>
          <p:cNvSpPr txBox="1"/>
          <p:nvPr/>
        </p:nvSpPr>
        <p:spPr>
          <a:xfrm>
            <a:off x="640080" y="3072384"/>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At PFA hearings</a:t>
            </a:r>
          </a:p>
        </p:txBody>
      </p:sp>
      <p:sp>
        <p:nvSpPr>
          <p:cNvPr id="42" name="Rounded Rectangle 41"/>
          <p:cNvSpPr/>
          <p:nvPr/>
        </p:nvSpPr>
        <p:spPr>
          <a:xfrm>
            <a:off x="2468880" y="2926080"/>
            <a:ext cx="9720072" cy="292608"/>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245309" y="2944368"/>
            <a:ext cx="2632640" cy="256032"/>
          </a:xfrm>
          <a:prstGeom prst="roundRect">
            <a:avLst>
              <a:gd name="adj" fmla="val 6000"/>
            </a:avLst>
          </a:prstGeom>
          <a:solidFill>
            <a:srgbClr val="E59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00173" y="2944368"/>
            <a:ext cx="2522912" cy="256032"/>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Funding push</a:t>
            </a:r>
          </a:p>
        </p:txBody>
      </p:sp>
      <p:sp>
        <p:nvSpPr>
          <p:cNvPr id="45" name="TextBox 44"/>
          <p:cNvSpPr txBox="1"/>
          <p:nvPr/>
        </p:nvSpPr>
        <p:spPr>
          <a:xfrm>
            <a:off x="640080" y="3273552"/>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Framework + toolkit build</a:t>
            </a:r>
          </a:p>
        </p:txBody>
      </p:sp>
      <p:sp>
        <p:nvSpPr>
          <p:cNvPr id="46" name="TextBox 45"/>
          <p:cNvSpPr txBox="1"/>
          <p:nvPr/>
        </p:nvSpPr>
        <p:spPr>
          <a:xfrm>
            <a:off x="640080" y="3419856"/>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Standard, templates</a:t>
            </a:r>
          </a:p>
        </p:txBody>
      </p:sp>
      <p:sp>
        <p:nvSpPr>
          <p:cNvPr id="47" name="Rounded Rectangle 46"/>
          <p:cNvSpPr/>
          <p:nvPr/>
        </p:nvSpPr>
        <p:spPr>
          <a:xfrm>
            <a:off x="2468880" y="3273552"/>
            <a:ext cx="9720072" cy="292608"/>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3803488" y="3291840"/>
            <a:ext cx="2190819" cy="256032"/>
          </a:xfrm>
          <a:prstGeom prst="roundRect">
            <a:avLst>
              <a:gd name="adj" fmla="val 6000"/>
            </a:avLst>
          </a:prstGeom>
          <a:solidFill>
            <a:srgbClr val="7A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58352" y="3291840"/>
            <a:ext cx="2081091" cy="256032"/>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Build</a:t>
            </a:r>
          </a:p>
        </p:txBody>
      </p:sp>
      <p:sp>
        <p:nvSpPr>
          <p:cNvPr id="50" name="TextBox 49"/>
          <p:cNvSpPr txBox="1"/>
          <p:nvPr/>
        </p:nvSpPr>
        <p:spPr>
          <a:xfrm>
            <a:off x="640080" y="3621024"/>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Captain training</a:t>
            </a:r>
          </a:p>
        </p:txBody>
      </p:sp>
      <p:sp>
        <p:nvSpPr>
          <p:cNvPr id="51" name="TextBox 50"/>
          <p:cNvSpPr txBox="1"/>
          <p:nvPr/>
        </p:nvSpPr>
        <p:spPr>
          <a:xfrm>
            <a:off x="640080" y="3767328"/>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Altagether facilitation</a:t>
            </a:r>
          </a:p>
        </p:txBody>
      </p:sp>
      <p:sp>
        <p:nvSpPr>
          <p:cNvPr id="52" name="Rounded Rectangle 51"/>
          <p:cNvSpPr/>
          <p:nvPr/>
        </p:nvSpPr>
        <p:spPr>
          <a:xfrm>
            <a:off x="2468880" y="3621024"/>
            <a:ext cx="9720072" cy="292608"/>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4687131" y="3639312"/>
            <a:ext cx="1748997" cy="256032"/>
          </a:xfrm>
          <a:prstGeom prst="roundRect">
            <a:avLst>
              <a:gd name="adj" fmla="val 6000"/>
            </a:avLst>
          </a:prstGeom>
          <a:solidFill>
            <a:srgbClr val="7A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741995" y="3639312"/>
            <a:ext cx="1639269" cy="256032"/>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Training cohorts</a:t>
            </a:r>
          </a:p>
        </p:txBody>
      </p:sp>
      <p:sp>
        <p:nvSpPr>
          <p:cNvPr id="55" name="TextBox 54"/>
          <p:cNvSpPr txBox="1"/>
          <p:nvPr/>
        </p:nvSpPr>
        <p:spPr>
          <a:xfrm>
            <a:off x="640080" y="3968496"/>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Fair Oaks pilot</a:t>
            </a:r>
          </a:p>
        </p:txBody>
      </p:sp>
      <p:sp>
        <p:nvSpPr>
          <p:cNvPr id="56" name="TextBox 55"/>
          <p:cNvSpPr txBox="1"/>
          <p:nvPr/>
        </p:nvSpPr>
        <p:spPr>
          <a:xfrm>
            <a:off x="640080" y="4114800"/>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Hand-hacked live use case</a:t>
            </a:r>
          </a:p>
        </p:txBody>
      </p:sp>
      <p:sp>
        <p:nvSpPr>
          <p:cNvPr id="57" name="Rounded Rectangle 56"/>
          <p:cNvSpPr/>
          <p:nvPr/>
        </p:nvSpPr>
        <p:spPr>
          <a:xfrm>
            <a:off x="2468880" y="3968496"/>
            <a:ext cx="9720072" cy="292608"/>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128952" y="3986784"/>
            <a:ext cx="4399926" cy="256032"/>
          </a:xfrm>
          <a:prstGeom prst="roundRect">
            <a:avLst>
              <a:gd name="adj" fmla="val 6000"/>
            </a:avLst>
          </a:prstGeom>
          <a:solidFill>
            <a:srgbClr val="2E3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83816" y="3986784"/>
            <a:ext cx="4290198" cy="256032"/>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Pilot in flight</a:t>
            </a:r>
          </a:p>
        </p:txBody>
      </p:sp>
      <p:sp>
        <p:nvSpPr>
          <p:cNvPr id="60" name="TextBox 59"/>
          <p:cNvSpPr txBox="1"/>
          <p:nvPr/>
        </p:nvSpPr>
        <p:spPr>
          <a:xfrm>
            <a:off x="640080" y="4315968"/>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Popup retail</a:t>
            </a:r>
          </a:p>
        </p:txBody>
      </p:sp>
      <p:sp>
        <p:nvSpPr>
          <p:cNvPr id="61" name="TextBox 60"/>
          <p:cNvSpPr txBox="1"/>
          <p:nvPr/>
        </p:nvSpPr>
        <p:spPr>
          <a:xfrm>
            <a:off x="640080" y="4462272"/>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Fair Oaks corridor activation</a:t>
            </a:r>
          </a:p>
        </p:txBody>
      </p:sp>
      <p:sp>
        <p:nvSpPr>
          <p:cNvPr id="62" name="Rounded Rectangle 61"/>
          <p:cNvSpPr/>
          <p:nvPr/>
        </p:nvSpPr>
        <p:spPr>
          <a:xfrm>
            <a:off x="2468880" y="4315968"/>
            <a:ext cx="9720072" cy="292608"/>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687131" y="4334256"/>
            <a:ext cx="7492676" cy="256032"/>
          </a:xfrm>
          <a:prstGeom prst="roundRect">
            <a:avLst>
              <a:gd name="adj" fmla="val 6000"/>
            </a:avLst>
          </a:prstGeom>
          <a:solidFill>
            <a:srgbClr val="E8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741995" y="4334256"/>
            <a:ext cx="7382948" cy="256032"/>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Activations &amp; community-led commerce</a:t>
            </a:r>
          </a:p>
        </p:txBody>
      </p:sp>
      <p:sp>
        <p:nvSpPr>
          <p:cNvPr id="65" name="TextBox 64"/>
          <p:cNvSpPr txBox="1"/>
          <p:nvPr/>
        </p:nvSpPr>
        <p:spPr>
          <a:xfrm>
            <a:off x="640080" y="4663440"/>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Dashboard MVP</a:t>
            </a:r>
          </a:p>
        </p:txBody>
      </p:sp>
      <p:sp>
        <p:nvSpPr>
          <p:cNvPr id="66" name="TextBox 65"/>
          <p:cNvSpPr txBox="1"/>
          <p:nvPr/>
        </p:nvSpPr>
        <p:spPr>
          <a:xfrm>
            <a:off x="640080" y="4809744"/>
            <a:ext cx="1737360" cy="137160"/>
          </a:xfrm>
          <a:prstGeom prst="rect">
            <a:avLst/>
          </a:prstGeom>
          <a:noFill/>
        </p:spPr>
        <p:txBody>
          <a:bodyPr wrap="square" anchor="ctr" lIns="0" rIns="0" tIns="0" bIns="0">
            <a:spAutoFit/>
          </a:bodyPr>
          <a:lstStyle/>
          <a:p>
            <a:pPr>
              <a:lnSpc>
                <a:spcPct val="120000"/>
              </a:lnSpc>
            </a:pPr>
            <a:r>
              <a:rPr sz="700" b="0" i="0">
                <a:solidFill>
                  <a:srgbClr val="5A6953"/>
                </a:solidFill>
                <a:latin typeface="DM Sans"/>
              </a:rPr>
              <a:t>Public accountability layer</a:t>
            </a:r>
          </a:p>
        </p:txBody>
      </p:sp>
      <p:sp>
        <p:nvSpPr>
          <p:cNvPr id="67" name="Rounded Rectangle 66"/>
          <p:cNvSpPr/>
          <p:nvPr/>
        </p:nvSpPr>
        <p:spPr>
          <a:xfrm>
            <a:off x="2468880" y="4663440"/>
            <a:ext cx="9720072" cy="292608"/>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7779881" y="4681728"/>
            <a:ext cx="2632640" cy="256032"/>
          </a:xfrm>
          <a:prstGeom prst="roundRect">
            <a:avLst>
              <a:gd name="adj" fmla="val 6000"/>
            </a:avLst>
          </a:prstGeom>
          <a:solidFill>
            <a:srgbClr val="7A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834745" y="4681728"/>
            <a:ext cx="2522912" cy="256032"/>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Build &amp; launch</a:t>
            </a:r>
          </a:p>
        </p:txBody>
      </p:sp>
      <p:sp>
        <p:nvSpPr>
          <p:cNvPr id="70" name="TextBox 69"/>
          <p:cNvSpPr txBox="1"/>
          <p:nvPr/>
        </p:nvSpPr>
        <p:spPr>
          <a:xfrm>
            <a:off x="640080" y="5010912"/>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Iterate from pilot</a:t>
            </a:r>
          </a:p>
        </p:txBody>
      </p:sp>
      <p:sp>
        <p:nvSpPr>
          <p:cNvPr id="71" name="Rounded Rectangle 70"/>
          <p:cNvSpPr/>
          <p:nvPr/>
        </p:nvSpPr>
        <p:spPr>
          <a:xfrm>
            <a:off x="2468880" y="5010912"/>
            <a:ext cx="9720072" cy="292608"/>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8221702" y="5029200"/>
            <a:ext cx="1748997" cy="256032"/>
          </a:xfrm>
          <a:prstGeom prst="roundRect">
            <a:avLst>
              <a:gd name="adj" fmla="val 6000"/>
            </a:avLst>
          </a:prstGeom>
          <a:solidFill>
            <a:srgbClr val="7A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76566" y="5029200"/>
            <a:ext cx="1639269" cy="256032"/>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Refine</a:t>
            </a:r>
          </a:p>
        </p:txBody>
      </p:sp>
      <p:sp>
        <p:nvSpPr>
          <p:cNvPr id="74" name="TextBox 73"/>
          <p:cNvSpPr txBox="1"/>
          <p:nvPr/>
        </p:nvSpPr>
        <p:spPr>
          <a:xfrm>
            <a:off x="640080" y="5358384"/>
            <a:ext cx="1737360" cy="164592"/>
          </a:xfrm>
          <a:prstGeom prst="rect">
            <a:avLst/>
          </a:prstGeom>
          <a:noFill/>
        </p:spPr>
        <p:txBody>
          <a:bodyPr wrap="square" anchor="ctr" lIns="0" rIns="0" tIns="0" bIns="0">
            <a:spAutoFit/>
          </a:bodyPr>
          <a:lstStyle/>
          <a:p>
            <a:pPr>
              <a:lnSpc>
                <a:spcPct val="120000"/>
              </a:lnSpc>
            </a:pPr>
            <a:r>
              <a:rPr sz="1000" b="1" i="0">
                <a:solidFill>
                  <a:srgbClr val="2E3D26"/>
                </a:solidFill>
                <a:latin typeface="DM Sans"/>
              </a:rPr>
              <a:t>Scale to additional corridors</a:t>
            </a:r>
          </a:p>
        </p:txBody>
      </p:sp>
      <p:sp>
        <p:nvSpPr>
          <p:cNvPr id="75" name="Rounded Rectangle 74"/>
          <p:cNvSpPr/>
          <p:nvPr/>
        </p:nvSpPr>
        <p:spPr>
          <a:xfrm>
            <a:off x="2468880" y="5358384"/>
            <a:ext cx="9720072" cy="292608"/>
          </a:xfrm>
          <a:prstGeom prst="roundRect">
            <a:avLst>
              <a:gd name="adj" fmla="val 6000"/>
            </a:avLst>
          </a:prstGeom>
          <a:solidFill>
            <a:srgbClr val="EEF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9547167" y="5376672"/>
            <a:ext cx="2632640" cy="256032"/>
          </a:xfrm>
          <a:prstGeom prst="roundRect">
            <a:avLst>
              <a:gd name="adj" fmla="val 6000"/>
            </a:avLst>
          </a:prstGeom>
          <a:solidFill>
            <a:srgbClr val="E59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602031" y="5376672"/>
            <a:ext cx="2522912" cy="256032"/>
          </a:xfrm>
          <a:prstGeom prst="rect">
            <a:avLst/>
          </a:prstGeom>
          <a:noFill/>
        </p:spPr>
        <p:txBody>
          <a:bodyPr wrap="square" anchor="ctr" lIns="0" rIns="0" tIns="0" bIns="0">
            <a:spAutoFit/>
          </a:bodyPr>
          <a:lstStyle/>
          <a:p>
            <a:pPr>
              <a:lnSpc>
                <a:spcPct val="120000"/>
              </a:lnSpc>
            </a:pPr>
            <a:r>
              <a:rPr sz="800" b="1" i="0">
                <a:solidFill>
                  <a:srgbClr val="FFFFFF"/>
                </a:solidFill>
                <a:latin typeface="DM Sans"/>
              </a:rPr>
              <a:t>Roll out</a:t>
            </a:r>
          </a:p>
        </p:txBody>
      </p:sp>
      <p:cxnSp>
        <p:nvCxnSpPr>
          <p:cNvPr id="78" name="Connector 77"/>
          <p:cNvCxnSpPr/>
          <p:nvPr/>
        </p:nvCxnSpPr>
        <p:spPr>
          <a:xfrm>
            <a:off x="640080" y="6446520"/>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6519672"/>
            <a:ext cx="10972800" cy="274320"/>
          </a:xfrm>
          <a:prstGeom prst="rect">
            <a:avLst/>
          </a:prstGeom>
          <a:noFill/>
        </p:spPr>
        <p:txBody>
          <a:bodyPr wrap="square" lIns="0" rIns="0" tIns="0" bIns="0">
            <a:spAutoFit/>
          </a:bodyPr>
          <a:lstStyle/>
          <a:p>
            <a:pPr algn="ctr">
              <a:lnSpc>
                <a:spcPct val="100000"/>
              </a:lnSpc>
            </a:pPr>
            <a:r>
              <a:rPr sz="900" b="0" i="0">
                <a:solidFill>
                  <a:srgbClr val="5A6953"/>
                </a:solidFill>
                <a:latin typeface="DM Sans"/>
              </a:rPr>
              <a:t>ALTADENA VILLAGE  ·  COLAB  ·  ALTING  ·  ALTAGETHER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spAutoFit/>
          </a:bodyPr>
          <a:lstStyle/>
          <a:p>
            <a:pPr>
              <a:lnSpc>
                <a:spcPct val="100000"/>
              </a:lnSpc>
            </a:pPr>
            <a:r>
              <a:rPr sz="1100" b="1" i="0">
                <a:solidFill>
                  <a:srgbClr val="E5905A"/>
                </a:solidFill>
                <a:latin typeface="DM Sans"/>
              </a:rPr>
              <a:t>WHO PAYS</a:t>
            </a:r>
          </a:p>
        </p:txBody>
      </p:sp>
      <p:sp>
        <p:nvSpPr>
          <p:cNvPr id="3" name="TextBox 2"/>
          <p:cNvSpPr txBox="1"/>
          <p:nvPr/>
        </p:nvSpPr>
        <p:spPr>
          <a:xfrm>
            <a:off x="640080" y="777240"/>
            <a:ext cx="10972800" cy="1097280"/>
          </a:xfrm>
          <a:prstGeom prst="rect">
            <a:avLst/>
          </a:prstGeom>
          <a:noFill/>
        </p:spPr>
        <p:txBody>
          <a:bodyPr wrap="square" lIns="0" rIns="0" tIns="0" bIns="0">
            <a:spAutoFit/>
          </a:bodyPr>
          <a:lstStyle/>
          <a:p>
            <a:pPr>
              <a:lnSpc>
                <a:spcPct val="110000"/>
              </a:lnSpc>
            </a:pPr>
            <a:r>
              <a:rPr sz="3200" b="0" i="0">
                <a:solidFill>
                  <a:srgbClr val="2E3D26"/>
                </a:solidFill>
                <a:latin typeface="DM Serif Display"/>
              </a:rPr>
              <a:t>Who pays for what</a:t>
            </a:r>
          </a:p>
        </p:txBody>
      </p:sp>
      <p:sp>
        <p:nvSpPr>
          <p:cNvPr id="4" name="TextBox 3"/>
          <p:cNvSpPr txBox="1"/>
          <p:nvPr/>
        </p:nvSpPr>
        <p:spPr>
          <a:xfrm>
            <a:off x="640080" y="2011680"/>
            <a:ext cx="4114800" cy="411480"/>
          </a:xfrm>
          <a:prstGeom prst="rect">
            <a:avLst/>
          </a:prstGeom>
          <a:noFill/>
        </p:spPr>
        <p:txBody>
          <a:bodyPr wrap="square" lIns="0" rIns="0" tIns="0" bIns="0">
            <a:spAutoFit/>
          </a:bodyPr>
          <a:lstStyle/>
          <a:p>
            <a:pPr>
              <a:lnSpc>
                <a:spcPct val="120000"/>
              </a:lnSpc>
            </a:pPr>
            <a:r>
              <a:rPr sz="2200" b="1" i="0">
                <a:solidFill>
                  <a:srgbClr val="2E3D26"/>
                </a:solidFill>
                <a:latin typeface="DM Sans"/>
              </a:rPr>
              <a:t>Sponsors</a:t>
            </a:r>
          </a:p>
        </p:txBody>
      </p:sp>
      <p:sp>
        <p:nvSpPr>
          <p:cNvPr id="5" name="TextBox 4"/>
          <p:cNvSpPr txBox="1"/>
          <p:nvPr/>
        </p:nvSpPr>
        <p:spPr>
          <a:xfrm>
            <a:off x="640080" y="2468880"/>
            <a:ext cx="10908792" cy="594360"/>
          </a:xfrm>
          <a:prstGeom prst="rect">
            <a:avLst/>
          </a:prstGeom>
          <a:noFill/>
        </p:spPr>
        <p:txBody>
          <a:bodyPr wrap="square" lIns="0" rIns="0" tIns="0" bIns="0">
            <a:spAutoFit/>
          </a:bodyPr>
          <a:lstStyle/>
          <a:p>
            <a:pPr>
              <a:lnSpc>
                <a:spcPct val="140000"/>
              </a:lnSpc>
            </a:pPr>
            <a:r>
              <a:rPr sz="1400" b="0" i="0">
                <a:solidFill>
                  <a:srgbClr val="2E3D26"/>
                </a:solidFill>
                <a:latin typeface="DM Sans"/>
              </a:rPr>
              <a:t>Pay for their own delivery — out of existing project budgets, not new spend.</a:t>
            </a:r>
          </a:p>
        </p:txBody>
      </p:sp>
      <p:cxnSp>
        <p:nvCxnSpPr>
          <p:cNvPr id="6" name="Connector 5"/>
          <p:cNvCxnSpPr/>
          <p:nvPr/>
        </p:nvCxnSpPr>
        <p:spPr>
          <a:xfrm>
            <a:off x="640080" y="3154680"/>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3200400"/>
            <a:ext cx="4114800" cy="411480"/>
          </a:xfrm>
          <a:prstGeom prst="rect">
            <a:avLst/>
          </a:prstGeom>
          <a:noFill/>
        </p:spPr>
        <p:txBody>
          <a:bodyPr wrap="square" lIns="0" rIns="0" tIns="0" bIns="0">
            <a:spAutoFit/>
          </a:bodyPr>
          <a:lstStyle/>
          <a:p>
            <a:pPr>
              <a:lnSpc>
                <a:spcPct val="120000"/>
              </a:lnSpc>
            </a:pPr>
            <a:r>
              <a:rPr sz="2200" b="1" i="0">
                <a:solidFill>
                  <a:srgbClr val="2E3D26"/>
                </a:solidFill>
                <a:latin typeface="DM Sans"/>
              </a:rPr>
              <a:t>EIFD</a:t>
            </a:r>
          </a:p>
        </p:txBody>
      </p:sp>
      <p:sp>
        <p:nvSpPr>
          <p:cNvPr id="8" name="TextBox 7"/>
          <p:cNvSpPr txBox="1"/>
          <p:nvPr/>
        </p:nvSpPr>
        <p:spPr>
          <a:xfrm>
            <a:off x="640080" y="3657600"/>
            <a:ext cx="10908792" cy="594360"/>
          </a:xfrm>
          <a:prstGeom prst="rect">
            <a:avLst/>
          </a:prstGeom>
          <a:noFill/>
        </p:spPr>
        <p:txBody>
          <a:bodyPr wrap="square" lIns="0" rIns="0" tIns="0" bIns="0">
            <a:spAutoFit/>
          </a:bodyPr>
          <a:lstStyle/>
          <a:p>
            <a:pPr>
              <a:lnSpc>
                <a:spcPct val="140000"/>
              </a:lnSpc>
            </a:pPr>
            <a:r>
              <a:rPr sz="1400" b="0" i="0">
                <a:solidFill>
                  <a:srgbClr val="2E3D26"/>
                </a:solidFill>
                <a:latin typeface="DM Sans"/>
              </a:rPr>
              <a:t>Funds the engagement infrastructure — administered through the PFA, a small fraction of the $2B financing layer.</a:t>
            </a:r>
          </a:p>
        </p:txBody>
      </p:sp>
      <p:cxnSp>
        <p:nvCxnSpPr>
          <p:cNvPr id="9" name="Connector 8"/>
          <p:cNvCxnSpPr/>
          <p:nvPr/>
        </p:nvCxnSpPr>
        <p:spPr>
          <a:xfrm>
            <a:off x="640080" y="4343400"/>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 y="4389120"/>
            <a:ext cx="4114800" cy="411480"/>
          </a:xfrm>
          <a:prstGeom prst="rect">
            <a:avLst/>
          </a:prstGeom>
          <a:noFill/>
        </p:spPr>
        <p:txBody>
          <a:bodyPr wrap="square" lIns="0" rIns="0" tIns="0" bIns="0">
            <a:spAutoFit/>
          </a:bodyPr>
          <a:lstStyle/>
          <a:p>
            <a:pPr>
              <a:lnSpc>
                <a:spcPct val="120000"/>
              </a:lnSpc>
            </a:pPr>
            <a:r>
              <a:rPr sz="2200" b="1" i="0">
                <a:solidFill>
                  <a:srgbClr val="2E3D26"/>
                </a:solidFill>
                <a:latin typeface="DM Sans"/>
              </a:rPr>
              <a:t>Local professionals</a:t>
            </a:r>
          </a:p>
        </p:txBody>
      </p:sp>
      <p:sp>
        <p:nvSpPr>
          <p:cNvPr id="11" name="TextBox 10"/>
          <p:cNvSpPr txBox="1"/>
          <p:nvPr/>
        </p:nvSpPr>
        <p:spPr>
          <a:xfrm>
            <a:off x="640080" y="4846320"/>
            <a:ext cx="10908792" cy="594360"/>
          </a:xfrm>
          <a:prstGeom prst="rect">
            <a:avLst/>
          </a:prstGeom>
          <a:noFill/>
        </p:spPr>
        <p:txBody>
          <a:bodyPr wrap="square" lIns="0" rIns="0" tIns="0" bIns="0">
            <a:spAutoFit/>
          </a:bodyPr>
          <a:lstStyle/>
          <a:p>
            <a:pPr>
              <a:lnSpc>
                <a:spcPct val="140000"/>
              </a:lnSpc>
            </a:pPr>
            <a:r>
              <a:rPr sz="1400" b="0" i="0">
                <a:solidFill>
                  <a:srgbClr val="2E3D26"/>
                </a:solidFill>
                <a:latin typeface="DM Sans"/>
              </a:rPr>
              <a:t>Do the work — facilitators, mediators, legal, translators from inside Altadena, so dollars recirculate.</a:t>
            </a:r>
          </a:p>
        </p:txBody>
      </p:sp>
      <p:cxnSp>
        <p:nvCxnSpPr>
          <p:cNvPr id="12" name="Connector 11"/>
          <p:cNvCxnSpPr/>
          <p:nvPr/>
        </p:nvCxnSpPr>
        <p:spPr>
          <a:xfrm>
            <a:off x="640080" y="6446520"/>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6519672"/>
            <a:ext cx="10972800" cy="274320"/>
          </a:xfrm>
          <a:prstGeom prst="rect">
            <a:avLst/>
          </a:prstGeom>
          <a:noFill/>
        </p:spPr>
        <p:txBody>
          <a:bodyPr wrap="square" lIns="0" rIns="0" tIns="0" bIns="0">
            <a:spAutoFit/>
          </a:bodyPr>
          <a:lstStyle/>
          <a:p>
            <a:pPr algn="ctr">
              <a:lnSpc>
                <a:spcPct val="100000"/>
              </a:lnSpc>
            </a:pPr>
            <a:r>
              <a:rPr sz="900" b="0" i="0">
                <a:solidFill>
                  <a:srgbClr val="5A6953"/>
                </a:solidFill>
                <a:latin typeface="DM Sans"/>
              </a:rPr>
              <a:t>ALTADENA VILLAGE  ·  COLAB  ·  ALTING  ·  ALTAGETHER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640080" y="502920"/>
            <a:ext cx="7315200" cy="274320"/>
          </a:xfrm>
          <a:prstGeom prst="rect">
            <a:avLst/>
          </a:prstGeom>
          <a:noFill/>
        </p:spPr>
        <p:txBody>
          <a:bodyPr wrap="square" lIns="0" rIns="0" tIns="0" bIns="0">
            <a:spAutoFit/>
          </a:bodyPr>
          <a:lstStyle/>
          <a:p>
            <a:pPr>
              <a:lnSpc>
                <a:spcPct val="100000"/>
              </a:lnSpc>
            </a:pPr>
            <a:r>
              <a:rPr sz="1100" b="1" i="0">
                <a:solidFill>
                  <a:srgbClr val="E5905A"/>
                </a:solidFill>
                <a:latin typeface="DM Sans"/>
              </a:rPr>
              <a:t>TEAM &amp; PARTNERS</a:t>
            </a:r>
          </a:p>
        </p:txBody>
      </p:sp>
      <p:sp>
        <p:nvSpPr>
          <p:cNvPr id="3" name="TextBox 2"/>
          <p:cNvSpPr txBox="1"/>
          <p:nvPr/>
        </p:nvSpPr>
        <p:spPr>
          <a:xfrm>
            <a:off x="640080" y="777240"/>
            <a:ext cx="10972800" cy="1097280"/>
          </a:xfrm>
          <a:prstGeom prst="rect">
            <a:avLst/>
          </a:prstGeom>
          <a:noFill/>
        </p:spPr>
        <p:txBody>
          <a:bodyPr wrap="square" lIns="0" rIns="0" tIns="0" bIns="0">
            <a:spAutoFit/>
          </a:bodyPr>
          <a:lstStyle/>
          <a:p>
            <a:pPr>
              <a:lnSpc>
                <a:spcPct val="110000"/>
              </a:lnSpc>
            </a:pPr>
            <a:r>
              <a:rPr sz="3200" b="0" i="0">
                <a:solidFill>
                  <a:srgbClr val="2E3D26"/>
                </a:solidFill>
                <a:latin typeface="DM Serif Display"/>
              </a:rPr>
              <a:t>Team &amp; partners</a:t>
            </a:r>
          </a:p>
        </p:txBody>
      </p:sp>
      <p:sp>
        <p:nvSpPr>
          <p:cNvPr id="4" name="TextBox 3"/>
          <p:cNvSpPr txBox="1"/>
          <p:nvPr/>
        </p:nvSpPr>
        <p:spPr>
          <a:xfrm>
            <a:off x="640080" y="1691640"/>
            <a:ext cx="10972800" cy="228600"/>
          </a:xfrm>
          <a:prstGeom prst="rect">
            <a:avLst/>
          </a:prstGeom>
          <a:noFill/>
        </p:spPr>
        <p:txBody>
          <a:bodyPr wrap="square" lIns="0" rIns="0" tIns="0" bIns="0">
            <a:spAutoFit/>
          </a:bodyPr>
          <a:lstStyle/>
          <a:p>
            <a:pPr>
              <a:lnSpc>
                <a:spcPct val="120000"/>
              </a:lnSpc>
            </a:pPr>
            <a:r>
              <a:rPr sz="1000" b="1" i="0">
                <a:solidFill>
                  <a:srgbClr val="E5905A"/>
                </a:solidFill>
                <a:latin typeface="DM Sans"/>
              </a:rPr>
              <a:t>COLLABORATION TEAM</a:t>
            </a:r>
          </a:p>
        </p:txBody>
      </p:sp>
      <p:cxnSp>
        <p:nvCxnSpPr>
          <p:cNvPr id="5" name="Connector 4"/>
          <p:cNvCxnSpPr/>
          <p:nvPr/>
        </p:nvCxnSpPr>
        <p:spPr>
          <a:xfrm>
            <a:off x="640080" y="1965960"/>
            <a:ext cx="10908792" cy="0"/>
          </a:xfrm>
          <a:prstGeom prst="line">
            <a:avLst/>
          </a:prstGeom>
          <a:ln w="19050">
            <a:solidFill>
              <a:srgbClr val="E5905A"/>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40080" y="2103120"/>
            <a:ext cx="2697480"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03120"/>
            <a:ext cx="2697480" cy="73152"/>
          </a:xfrm>
          <a:prstGeom prst="rect">
            <a:avLst/>
          </a:prstGeom>
          <a:solidFill>
            <a:srgbClr val="E59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86000"/>
            <a:ext cx="2331720" cy="365760"/>
          </a:xfrm>
          <a:prstGeom prst="rect">
            <a:avLst/>
          </a:prstGeom>
          <a:noFill/>
        </p:spPr>
        <p:txBody>
          <a:bodyPr wrap="square" lIns="0" rIns="0" tIns="0" bIns="0">
            <a:spAutoFit/>
          </a:bodyPr>
          <a:lstStyle/>
          <a:p>
            <a:pPr>
              <a:lnSpc>
                <a:spcPct val="120000"/>
              </a:lnSpc>
            </a:pPr>
            <a:r>
              <a:rPr sz="1600" b="1" i="0">
                <a:solidFill>
                  <a:srgbClr val="2E3D26"/>
                </a:solidFill>
                <a:latin typeface="DM Sans"/>
              </a:rPr>
              <a:t>Altadena Village</a:t>
            </a:r>
          </a:p>
        </p:txBody>
      </p:sp>
      <p:sp>
        <p:nvSpPr>
          <p:cNvPr id="9" name="TextBox 8"/>
          <p:cNvSpPr txBox="1"/>
          <p:nvPr/>
        </p:nvSpPr>
        <p:spPr>
          <a:xfrm>
            <a:off x="822960" y="2651760"/>
            <a:ext cx="2331720" cy="502920"/>
          </a:xfrm>
          <a:prstGeom prst="rect">
            <a:avLst/>
          </a:prstGeom>
          <a:noFill/>
        </p:spPr>
        <p:txBody>
          <a:bodyPr wrap="square" lIns="0" rIns="0" tIns="0" bIns="0">
            <a:spAutoFit/>
          </a:bodyPr>
          <a:lstStyle/>
          <a:p>
            <a:pPr>
              <a:lnSpc>
                <a:spcPct val="140000"/>
              </a:lnSpc>
            </a:pPr>
            <a:r>
              <a:rPr sz="1100" b="0" i="0">
                <a:solidFill>
                  <a:srgbClr val="5A6953"/>
                </a:solidFill>
                <a:latin typeface="DM Sans"/>
              </a:rPr>
              <a:t>Esther Kim</a:t>
            </a:r>
          </a:p>
        </p:txBody>
      </p:sp>
      <p:sp>
        <p:nvSpPr>
          <p:cNvPr id="10" name="Rounded Rectangle 9"/>
          <p:cNvSpPr/>
          <p:nvPr/>
        </p:nvSpPr>
        <p:spPr>
          <a:xfrm>
            <a:off x="3474720" y="2103120"/>
            <a:ext cx="2697480"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74720" y="2103120"/>
            <a:ext cx="2697480" cy="73152"/>
          </a:xfrm>
          <a:prstGeom prst="rect">
            <a:avLst/>
          </a:prstGeom>
          <a:solidFill>
            <a:srgbClr val="7A8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2286000"/>
            <a:ext cx="2331720" cy="365760"/>
          </a:xfrm>
          <a:prstGeom prst="rect">
            <a:avLst/>
          </a:prstGeom>
          <a:noFill/>
        </p:spPr>
        <p:txBody>
          <a:bodyPr wrap="square" lIns="0" rIns="0" tIns="0" bIns="0">
            <a:spAutoFit/>
          </a:bodyPr>
          <a:lstStyle/>
          <a:p>
            <a:pPr>
              <a:lnSpc>
                <a:spcPct val="120000"/>
              </a:lnSpc>
            </a:pPr>
            <a:r>
              <a:rPr sz="1600" b="1" i="0">
                <a:solidFill>
                  <a:srgbClr val="2E3D26"/>
                </a:solidFill>
                <a:latin typeface="DM Sans"/>
              </a:rPr>
              <a:t>CoLab</a:t>
            </a:r>
          </a:p>
        </p:txBody>
      </p:sp>
      <p:sp>
        <p:nvSpPr>
          <p:cNvPr id="13" name="TextBox 12"/>
          <p:cNvSpPr txBox="1"/>
          <p:nvPr/>
        </p:nvSpPr>
        <p:spPr>
          <a:xfrm>
            <a:off x="3657600" y="2651760"/>
            <a:ext cx="2331720" cy="502920"/>
          </a:xfrm>
          <a:prstGeom prst="rect">
            <a:avLst/>
          </a:prstGeom>
          <a:noFill/>
        </p:spPr>
        <p:txBody>
          <a:bodyPr wrap="square" lIns="0" rIns="0" tIns="0" bIns="0">
            <a:spAutoFit/>
          </a:bodyPr>
          <a:lstStyle/>
          <a:p>
            <a:pPr>
              <a:lnSpc>
                <a:spcPct val="140000"/>
              </a:lnSpc>
            </a:pPr>
            <a:r>
              <a:rPr sz="1100" b="0" i="0">
                <a:solidFill>
                  <a:srgbClr val="5A6953"/>
                </a:solidFill>
                <a:latin typeface="DM Sans"/>
              </a:rPr>
              <a:t>Megan Hinchliffe Gerig · Gabriella Caparco</a:t>
            </a:r>
          </a:p>
        </p:txBody>
      </p:sp>
      <p:sp>
        <p:nvSpPr>
          <p:cNvPr id="14" name="Rounded Rectangle 13"/>
          <p:cNvSpPr/>
          <p:nvPr/>
        </p:nvSpPr>
        <p:spPr>
          <a:xfrm>
            <a:off x="6309360" y="2103120"/>
            <a:ext cx="2697480"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2103120"/>
            <a:ext cx="2697480" cy="73152"/>
          </a:xfrm>
          <a:prstGeom prst="rect">
            <a:avLst/>
          </a:prstGeom>
          <a:solidFill>
            <a:srgbClr val="E59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2286000"/>
            <a:ext cx="2331720" cy="365760"/>
          </a:xfrm>
          <a:prstGeom prst="rect">
            <a:avLst/>
          </a:prstGeom>
          <a:noFill/>
        </p:spPr>
        <p:txBody>
          <a:bodyPr wrap="square" lIns="0" rIns="0" tIns="0" bIns="0">
            <a:spAutoFit/>
          </a:bodyPr>
          <a:lstStyle/>
          <a:p>
            <a:pPr>
              <a:lnSpc>
                <a:spcPct val="120000"/>
              </a:lnSpc>
            </a:pPr>
            <a:r>
              <a:rPr sz="1600" b="1" i="0">
                <a:solidFill>
                  <a:srgbClr val="2E3D26"/>
                </a:solidFill>
                <a:latin typeface="DM Sans"/>
              </a:rPr>
              <a:t>Alting</a:t>
            </a:r>
          </a:p>
        </p:txBody>
      </p:sp>
      <p:sp>
        <p:nvSpPr>
          <p:cNvPr id="17" name="TextBox 16"/>
          <p:cNvSpPr txBox="1"/>
          <p:nvPr/>
        </p:nvSpPr>
        <p:spPr>
          <a:xfrm>
            <a:off x="6492240" y="2651760"/>
            <a:ext cx="2331720" cy="502920"/>
          </a:xfrm>
          <a:prstGeom prst="rect">
            <a:avLst/>
          </a:prstGeom>
          <a:noFill/>
        </p:spPr>
        <p:txBody>
          <a:bodyPr wrap="square" lIns="0" rIns="0" tIns="0" bIns="0">
            <a:spAutoFit/>
          </a:bodyPr>
          <a:lstStyle/>
          <a:p>
            <a:pPr>
              <a:lnSpc>
                <a:spcPct val="140000"/>
              </a:lnSpc>
            </a:pPr>
            <a:r>
              <a:rPr sz="1100" b="0" i="0">
                <a:solidFill>
                  <a:srgbClr val="5A6953"/>
                </a:solidFill>
                <a:latin typeface="DM Sans"/>
              </a:rPr>
              <a:t>Petra Wennberg</a:t>
            </a:r>
          </a:p>
        </p:txBody>
      </p:sp>
      <p:sp>
        <p:nvSpPr>
          <p:cNvPr id="18" name="Rounded Rectangle 17"/>
          <p:cNvSpPr/>
          <p:nvPr/>
        </p:nvSpPr>
        <p:spPr>
          <a:xfrm>
            <a:off x="9144000" y="2103120"/>
            <a:ext cx="2697480" cy="1097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0" y="2103120"/>
            <a:ext cx="2697480" cy="73152"/>
          </a:xfrm>
          <a:prstGeom prst="rect">
            <a:avLst/>
          </a:prstGeom>
          <a:solidFill>
            <a:srgbClr val="2E3D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2286000"/>
            <a:ext cx="2331720" cy="365760"/>
          </a:xfrm>
          <a:prstGeom prst="rect">
            <a:avLst/>
          </a:prstGeom>
          <a:noFill/>
        </p:spPr>
        <p:txBody>
          <a:bodyPr wrap="square" lIns="0" rIns="0" tIns="0" bIns="0">
            <a:spAutoFit/>
          </a:bodyPr>
          <a:lstStyle/>
          <a:p>
            <a:pPr>
              <a:lnSpc>
                <a:spcPct val="120000"/>
              </a:lnSpc>
            </a:pPr>
            <a:r>
              <a:rPr sz="1600" b="1" i="0">
                <a:solidFill>
                  <a:srgbClr val="2E3D26"/>
                </a:solidFill>
                <a:latin typeface="DM Sans"/>
              </a:rPr>
              <a:t>Altagether</a:t>
            </a:r>
          </a:p>
        </p:txBody>
      </p:sp>
      <p:sp>
        <p:nvSpPr>
          <p:cNvPr id="21" name="TextBox 20"/>
          <p:cNvSpPr txBox="1"/>
          <p:nvPr/>
        </p:nvSpPr>
        <p:spPr>
          <a:xfrm>
            <a:off x="9326880" y="2651760"/>
            <a:ext cx="2331720" cy="502920"/>
          </a:xfrm>
          <a:prstGeom prst="rect">
            <a:avLst/>
          </a:prstGeom>
          <a:noFill/>
        </p:spPr>
        <p:txBody>
          <a:bodyPr wrap="square" lIns="0" rIns="0" tIns="0" bIns="0">
            <a:spAutoFit/>
          </a:bodyPr>
          <a:lstStyle/>
          <a:p>
            <a:pPr>
              <a:lnSpc>
                <a:spcPct val="140000"/>
              </a:lnSpc>
            </a:pPr>
            <a:r>
              <a:rPr sz="1100" b="0" i="0">
                <a:solidFill>
                  <a:srgbClr val="5A6953"/>
                </a:solidFill>
                <a:latin typeface="DM Sans"/>
              </a:rPr>
              <a:t>John Mayo · 150+ block captains</a:t>
            </a:r>
          </a:p>
        </p:txBody>
      </p:sp>
      <p:sp>
        <p:nvSpPr>
          <p:cNvPr id="22" name="TextBox 21"/>
          <p:cNvSpPr txBox="1"/>
          <p:nvPr/>
        </p:nvSpPr>
        <p:spPr>
          <a:xfrm>
            <a:off x="640080" y="3520440"/>
            <a:ext cx="10972800" cy="228600"/>
          </a:xfrm>
          <a:prstGeom prst="rect">
            <a:avLst/>
          </a:prstGeom>
          <a:noFill/>
        </p:spPr>
        <p:txBody>
          <a:bodyPr wrap="square" lIns="0" rIns="0" tIns="0" bIns="0">
            <a:spAutoFit/>
          </a:bodyPr>
          <a:lstStyle/>
          <a:p>
            <a:pPr>
              <a:lnSpc>
                <a:spcPct val="120000"/>
              </a:lnSpc>
            </a:pPr>
            <a:r>
              <a:rPr sz="1000" b="1" i="0">
                <a:solidFill>
                  <a:srgbClr val="7A8A6E"/>
                </a:solidFill>
                <a:latin typeface="DM Sans"/>
              </a:rPr>
              <a:t>SPONSORS</a:t>
            </a:r>
          </a:p>
        </p:txBody>
      </p:sp>
      <p:cxnSp>
        <p:nvCxnSpPr>
          <p:cNvPr id="23" name="Connector 22"/>
          <p:cNvCxnSpPr/>
          <p:nvPr/>
        </p:nvCxnSpPr>
        <p:spPr>
          <a:xfrm>
            <a:off x="640080" y="3794760"/>
            <a:ext cx="10908792" cy="0"/>
          </a:xfrm>
          <a:prstGeom prst="line">
            <a:avLst/>
          </a:prstGeom>
          <a:ln w="19050">
            <a:solidFill>
              <a:srgbClr val="7A8A6E"/>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40080" y="393192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400507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Altadena Bloom</a:t>
            </a:r>
          </a:p>
        </p:txBody>
      </p:sp>
      <p:sp>
        <p:nvSpPr>
          <p:cNvPr id="26" name="TextBox 25"/>
          <p:cNvSpPr txBox="1"/>
          <p:nvPr/>
        </p:nvSpPr>
        <p:spPr>
          <a:xfrm>
            <a:off x="749808" y="420624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Ty Garrison</a:t>
            </a:r>
          </a:p>
        </p:txBody>
      </p:sp>
      <p:sp>
        <p:nvSpPr>
          <p:cNvPr id="27" name="Rounded Rectangle 26"/>
          <p:cNvSpPr/>
          <p:nvPr/>
        </p:nvSpPr>
        <p:spPr>
          <a:xfrm>
            <a:off x="2926080" y="393192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35808" y="400507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Altadena Chamber of Commerce</a:t>
            </a:r>
          </a:p>
        </p:txBody>
      </p:sp>
      <p:sp>
        <p:nvSpPr>
          <p:cNvPr id="29" name="TextBox 28"/>
          <p:cNvSpPr txBox="1"/>
          <p:nvPr/>
        </p:nvSpPr>
        <p:spPr>
          <a:xfrm>
            <a:off x="3035808" y="420624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Judy Matthews</a:t>
            </a:r>
          </a:p>
        </p:txBody>
      </p:sp>
      <p:sp>
        <p:nvSpPr>
          <p:cNvPr id="30" name="Rounded Rectangle 29"/>
          <p:cNvSpPr/>
          <p:nvPr/>
        </p:nvSpPr>
        <p:spPr>
          <a:xfrm>
            <a:off x="5212080" y="393192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21808" y="400507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Altadena Collective</a:t>
            </a:r>
          </a:p>
        </p:txBody>
      </p:sp>
      <p:sp>
        <p:nvSpPr>
          <p:cNvPr id="32" name="TextBox 31"/>
          <p:cNvSpPr txBox="1"/>
          <p:nvPr/>
        </p:nvSpPr>
        <p:spPr>
          <a:xfrm>
            <a:off x="5321808" y="420624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Chris Corbett</a:t>
            </a:r>
          </a:p>
        </p:txBody>
      </p:sp>
      <p:sp>
        <p:nvSpPr>
          <p:cNvPr id="33" name="Rounded Rectangle 32"/>
          <p:cNvSpPr/>
          <p:nvPr/>
        </p:nvSpPr>
        <p:spPr>
          <a:xfrm>
            <a:off x="7498080" y="393192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07808" y="400507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Altadena Green</a:t>
            </a:r>
          </a:p>
        </p:txBody>
      </p:sp>
      <p:sp>
        <p:nvSpPr>
          <p:cNvPr id="35" name="TextBox 34"/>
          <p:cNvSpPr txBox="1"/>
          <p:nvPr/>
        </p:nvSpPr>
        <p:spPr>
          <a:xfrm>
            <a:off x="7607808" y="420624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Stephanie Landregan · Wynn Wilson</a:t>
            </a:r>
          </a:p>
        </p:txBody>
      </p:sp>
      <p:sp>
        <p:nvSpPr>
          <p:cNvPr id="36" name="Rounded Rectangle 35"/>
          <p:cNvSpPr/>
          <p:nvPr/>
        </p:nvSpPr>
        <p:spPr>
          <a:xfrm>
            <a:off x="9784080" y="393192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93808" y="400507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Altadena Heritage</a:t>
            </a:r>
          </a:p>
        </p:txBody>
      </p:sp>
      <p:sp>
        <p:nvSpPr>
          <p:cNvPr id="38" name="TextBox 37"/>
          <p:cNvSpPr txBox="1"/>
          <p:nvPr/>
        </p:nvSpPr>
        <p:spPr>
          <a:xfrm>
            <a:off x="9893808" y="420624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Hans Allhoff · Michele Zack</a:t>
            </a:r>
          </a:p>
        </p:txBody>
      </p:sp>
      <p:sp>
        <p:nvSpPr>
          <p:cNvPr id="39" name="Rounded Rectangle 38"/>
          <p:cNvSpPr/>
          <p:nvPr/>
        </p:nvSpPr>
        <p:spPr>
          <a:xfrm>
            <a:off x="640080" y="452628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459943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Altadena Town Council</a:t>
            </a:r>
          </a:p>
        </p:txBody>
      </p:sp>
      <p:sp>
        <p:nvSpPr>
          <p:cNvPr id="41" name="TextBox 40"/>
          <p:cNvSpPr txBox="1"/>
          <p:nvPr/>
        </p:nvSpPr>
        <p:spPr>
          <a:xfrm>
            <a:off x="749808" y="480060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Dorothy Wong · Morgan Whirledge</a:t>
            </a:r>
          </a:p>
        </p:txBody>
      </p:sp>
      <p:sp>
        <p:nvSpPr>
          <p:cNvPr id="42" name="Rounded Rectangle 41"/>
          <p:cNvSpPr/>
          <p:nvPr/>
        </p:nvSpPr>
        <p:spPr>
          <a:xfrm>
            <a:off x="2926080" y="452628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35808" y="459943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ARRC</a:t>
            </a:r>
          </a:p>
        </p:txBody>
      </p:sp>
      <p:sp>
        <p:nvSpPr>
          <p:cNvPr id="44" name="TextBox 43"/>
          <p:cNvSpPr txBox="1"/>
          <p:nvPr/>
        </p:nvSpPr>
        <p:spPr>
          <a:xfrm>
            <a:off x="3035808" y="480060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Anders Corey</a:t>
            </a:r>
          </a:p>
        </p:txBody>
      </p:sp>
      <p:sp>
        <p:nvSpPr>
          <p:cNvPr id="45" name="Rounded Rectangle 44"/>
          <p:cNvSpPr/>
          <p:nvPr/>
        </p:nvSpPr>
        <p:spPr>
          <a:xfrm>
            <a:off x="5212080" y="452628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21808" y="459943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CCAR</a:t>
            </a:r>
          </a:p>
        </p:txBody>
      </p:sp>
      <p:sp>
        <p:nvSpPr>
          <p:cNvPr id="47" name="TextBox 46"/>
          <p:cNvSpPr txBox="1"/>
          <p:nvPr/>
        </p:nvSpPr>
        <p:spPr>
          <a:xfrm>
            <a:off x="5321808" y="480060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Hans Allhoff</a:t>
            </a:r>
          </a:p>
        </p:txBody>
      </p:sp>
      <p:sp>
        <p:nvSpPr>
          <p:cNvPr id="48" name="Rounded Rectangle 47"/>
          <p:cNvSpPr/>
          <p:nvPr/>
        </p:nvSpPr>
        <p:spPr>
          <a:xfrm>
            <a:off x="7498080" y="452628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07808" y="459943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Dena Hive</a:t>
            </a:r>
          </a:p>
        </p:txBody>
      </p:sp>
      <p:sp>
        <p:nvSpPr>
          <p:cNvPr id="50" name="TextBox 49"/>
          <p:cNvSpPr txBox="1"/>
          <p:nvPr/>
        </p:nvSpPr>
        <p:spPr>
          <a:xfrm>
            <a:off x="7607808" y="480060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Dorothy Wong</a:t>
            </a:r>
          </a:p>
        </p:txBody>
      </p:sp>
      <p:sp>
        <p:nvSpPr>
          <p:cNvPr id="51" name="Rounded Rectangle 50"/>
          <p:cNvSpPr/>
          <p:nvPr/>
        </p:nvSpPr>
        <p:spPr>
          <a:xfrm>
            <a:off x="9784080" y="452628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93808" y="459943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League of Women Voters</a:t>
            </a:r>
          </a:p>
        </p:txBody>
      </p:sp>
      <p:sp>
        <p:nvSpPr>
          <p:cNvPr id="53" name="TextBox 52"/>
          <p:cNvSpPr txBox="1"/>
          <p:nvPr/>
        </p:nvSpPr>
        <p:spPr>
          <a:xfrm>
            <a:off x="9893808" y="480060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Joan Riback</a:t>
            </a:r>
          </a:p>
        </p:txBody>
      </p:sp>
      <p:sp>
        <p:nvSpPr>
          <p:cNvPr id="54" name="Rounded Rectangle 53"/>
          <p:cNvSpPr/>
          <p:nvPr/>
        </p:nvSpPr>
        <p:spPr>
          <a:xfrm>
            <a:off x="640080" y="512064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9808" y="519379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Neighbors Building a Greater Altadena</a:t>
            </a:r>
          </a:p>
        </p:txBody>
      </p:sp>
      <p:sp>
        <p:nvSpPr>
          <p:cNvPr id="56" name="TextBox 55"/>
          <p:cNvSpPr txBox="1"/>
          <p:nvPr/>
        </p:nvSpPr>
        <p:spPr>
          <a:xfrm>
            <a:off x="749808" y="539496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Karen Gibson</a:t>
            </a:r>
          </a:p>
        </p:txBody>
      </p:sp>
      <p:sp>
        <p:nvSpPr>
          <p:cNvPr id="57" name="Rounded Rectangle 56"/>
          <p:cNvSpPr/>
          <p:nvPr/>
        </p:nvSpPr>
        <p:spPr>
          <a:xfrm>
            <a:off x="2926080" y="512064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35808" y="519379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NOMA</a:t>
            </a:r>
          </a:p>
        </p:txBody>
      </p:sp>
      <p:sp>
        <p:nvSpPr>
          <p:cNvPr id="59" name="TextBox 58"/>
          <p:cNvSpPr txBox="1"/>
          <p:nvPr/>
        </p:nvSpPr>
        <p:spPr>
          <a:xfrm>
            <a:off x="3035808" y="539496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Steve Lewis</a:t>
            </a:r>
          </a:p>
        </p:txBody>
      </p:sp>
      <p:sp>
        <p:nvSpPr>
          <p:cNvPr id="60" name="Rounded Rectangle 59"/>
          <p:cNvSpPr/>
          <p:nvPr/>
        </p:nvSpPr>
        <p:spPr>
          <a:xfrm>
            <a:off x="5212080" y="512064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21808" y="519379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PUSD School Board</a:t>
            </a:r>
          </a:p>
        </p:txBody>
      </p:sp>
      <p:sp>
        <p:nvSpPr>
          <p:cNvPr id="62" name="TextBox 61"/>
          <p:cNvSpPr txBox="1"/>
          <p:nvPr/>
        </p:nvSpPr>
        <p:spPr>
          <a:xfrm>
            <a:off x="5321808" y="539496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Jennifer Hall Lee</a:t>
            </a:r>
          </a:p>
        </p:txBody>
      </p:sp>
      <p:sp>
        <p:nvSpPr>
          <p:cNvPr id="63" name="Rounded Rectangle 62"/>
          <p:cNvSpPr/>
          <p:nvPr/>
        </p:nvSpPr>
        <p:spPr>
          <a:xfrm>
            <a:off x="7498080" y="512064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607808" y="519379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Steadfast</a:t>
            </a:r>
          </a:p>
        </p:txBody>
      </p:sp>
      <p:sp>
        <p:nvSpPr>
          <p:cNvPr id="65" name="TextBox 64"/>
          <p:cNvSpPr txBox="1"/>
          <p:nvPr/>
        </p:nvSpPr>
        <p:spPr>
          <a:xfrm>
            <a:off x="7607808" y="539496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Jodi McLaughlin · Hans Allhoff</a:t>
            </a:r>
          </a:p>
        </p:txBody>
      </p:sp>
      <p:sp>
        <p:nvSpPr>
          <p:cNvPr id="66" name="Rounded Rectangle 65"/>
          <p:cNvSpPr/>
          <p:nvPr/>
        </p:nvSpPr>
        <p:spPr>
          <a:xfrm>
            <a:off x="9784080" y="5120640"/>
            <a:ext cx="2240280" cy="548640"/>
          </a:xfrm>
          <a:prstGeom prst="roundRect">
            <a:avLst>
              <a:gd name="adj" fmla="val 6000"/>
            </a:avLst>
          </a:prstGeom>
          <a:solidFill>
            <a:srgbClr val="E8E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93808" y="5193792"/>
            <a:ext cx="2020824" cy="201168"/>
          </a:xfrm>
          <a:prstGeom prst="rect">
            <a:avLst/>
          </a:prstGeom>
          <a:noFill/>
        </p:spPr>
        <p:txBody>
          <a:bodyPr wrap="square" lIns="0" rIns="0" tIns="0" bIns="0">
            <a:spAutoFit/>
          </a:bodyPr>
          <a:lstStyle/>
          <a:p>
            <a:pPr>
              <a:lnSpc>
                <a:spcPct val="120000"/>
              </a:lnSpc>
            </a:pPr>
            <a:r>
              <a:rPr sz="900" b="1" i="0">
                <a:solidFill>
                  <a:srgbClr val="2E3D26"/>
                </a:solidFill>
                <a:latin typeface="DM Sans"/>
              </a:rPr>
              <a:t>WRTT</a:t>
            </a:r>
          </a:p>
        </p:txBody>
      </p:sp>
      <p:sp>
        <p:nvSpPr>
          <p:cNvPr id="68" name="TextBox 67"/>
          <p:cNvSpPr txBox="1"/>
          <p:nvPr/>
        </p:nvSpPr>
        <p:spPr>
          <a:xfrm>
            <a:off x="9893808" y="5394960"/>
            <a:ext cx="2020824" cy="201168"/>
          </a:xfrm>
          <a:prstGeom prst="rect">
            <a:avLst/>
          </a:prstGeom>
          <a:noFill/>
        </p:spPr>
        <p:txBody>
          <a:bodyPr wrap="square" lIns="0" rIns="0" tIns="0" bIns="0">
            <a:spAutoFit/>
          </a:bodyPr>
          <a:lstStyle/>
          <a:p>
            <a:pPr>
              <a:lnSpc>
                <a:spcPct val="120000"/>
              </a:lnSpc>
            </a:pPr>
            <a:r>
              <a:rPr sz="800" b="0" i="0">
                <a:solidFill>
                  <a:srgbClr val="5A6953"/>
                </a:solidFill>
                <a:latin typeface="DM Sans"/>
              </a:rPr>
              <a:t>Ty Garrison</a:t>
            </a:r>
          </a:p>
        </p:txBody>
      </p:sp>
      <p:cxnSp>
        <p:nvCxnSpPr>
          <p:cNvPr id="69" name="Connector 68"/>
          <p:cNvCxnSpPr/>
          <p:nvPr/>
        </p:nvCxnSpPr>
        <p:spPr>
          <a:xfrm>
            <a:off x="640080" y="6446520"/>
            <a:ext cx="10908792" cy="0"/>
          </a:xfrm>
          <a:prstGeom prst="line">
            <a:avLst/>
          </a:prstGeom>
          <a:ln w="6350">
            <a:solidFill>
              <a:srgbClr val="E8EDE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40080" y="6519672"/>
            <a:ext cx="10972800" cy="274320"/>
          </a:xfrm>
          <a:prstGeom prst="rect">
            <a:avLst/>
          </a:prstGeom>
          <a:noFill/>
        </p:spPr>
        <p:txBody>
          <a:bodyPr wrap="square" lIns="0" rIns="0" tIns="0" bIns="0">
            <a:spAutoFit/>
          </a:bodyPr>
          <a:lstStyle/>
          <a:p>
            <a:pPr algn="ctr">
              <a:lnSpc>
                <a:spcPct val="100000"/>
              </a:lnSpc>
            </a:pPr>
            <a:r>
              <a:rPr sz="900" b="0" i="0">
                <a:solidFill>
                  <a:srgbClr val="5A6953"/>
                </a:solidFill>
                <a:latin typeface="DM Sans"/>
              </a:rPr>
              <a:t>ALTADENA VILLAGE  ·  COLAB  ·  ALTING  ·  ALTAGETHER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3D26"/>
        </a:solidFill>
        <a:effectLst/>
      </p:bgPr>
    </p:bg>
    <p:spTree>
      <p:nvGrpSpPr>
        <p:cNvPr id="1" name=""/>
        <p:cNvGrpSpPr/>
        <p:nvPr/>
      </p:nvGrpSpPr>
      <p:grpSpPr/>
      <p:sp>
        <p:nvSpPr>
          <p:cNvPr id="2" name="TextBox 1"/>
          <p:cNvSpPr txBox="1"/>
          <p:nvPr/>
        </p:nvSpPr>
        <p:spPr>
          <a:xfrm>
            <a:off x="640080" y="640080"/>
            <a:ext cx="10972800" cy="274320"/>
          </a:xfrm>
          <a:prstGeom prst="rect">
            <a:avLst/>
          </a:prstGeom>
          <a:noFill/>
        </p:spPr>
        <p:txBody>
          <a:bodyPr wrap="square" lIns="0" rIns="0" tIns="0" bIns="0">
            <a:spAutoFit/>
          </a:bodyPr>
          <a:lstStyle/>
          <a:p>
            <a:pPr>
              <a:lnSpc>
                <a:spcPct val="120000"/>
              </a:lnSpc>
            </a:pPr>
            <a:r>
              <a:rPr sz="1100" b="1" i="0">
                <a:solidFill>
                  <a:srgbClr val="E5905A"/>
                </a:solidFill>
                <a:latin typeface="DM Sans"/>
              </a:rPr>
              <a:t>WHAT WE WANT FROM YOU TODAY</a:t>
            </a:r>
          </a:p>
        </p:txBody>
      </p:sp>
      <p:sp>
        <p:nvSpPr>
          <p:cNvPr id="3" name="TextBox 2"/>
          <p:cNvSpPr txBox="1"/>
          <p:nvPr/>
        </p:nvSpPr>
        <p:spPr>
          <a:xfrm>
            <a:off x="640080" y="1554480"/>
            <a:ext cx="10908792" cy="2286000"/>
          </a:xfrm>
          <a:prstGeom prst="rect">
            <a:avLst/>
          </a:prstGeom>
          <a:noFill/>
        </p:spPr>
        <p:txBody>
          <a:bodyPr wrap="square" lIns="0" rIns="0" tIns="0" bIns="0">
            <a:spAutoFit/>
          </a:bodyPr>
          <a:lstStyle/>
          <a:p>
            <a:pPr>
              <a:lnSpc>
                <a:spcPct val="105000"/>
              </a:lnSpc>
            </a:pPr>
            <a:r>
              <a:rPr sz="4400" b="0" i="0">
                <a:solidFill>
                  <a:srgbClr val="FAF6F0"/>
                </a:solidFill>
                <a:latin typeface="DM Serif Display"/>
              </a:rPr>
              <a:t>Endorsement of the approach — co-signing this process.</a:t>
            </a:r>
          </a:p>
        </p:txBody>
      </p:sp>
      <p:sp>
        <p:nvSpPr>
          <p:cNvPr id="4" name="TextBox 3"/>
          <p:cNvSpPr txBox="1"/>
          <p:nvPr/>
        </p:nvSpPr>
        <p:spPr>
          <a:xfrm>
            <a:off x="640080" y="3931920"/>
            <a:ext cx="10515600" cy="1280160"/>
          </a:xfrm>
          <a:prstGeom prst="rect">
            <a:avLst/>
          </a:prstGeom>
          <a:noFill/>
        </p:spPr>
        <p:txBody>
          <a:bodyPr wrap="square" lIns="0" rIns="0" tIns="0" bIns="0">
            <a:spAutoFit/>
          </a:bodyPr>
          <a:lstStyle/>
          <a:p>
            <a:pPr>
              <a:lnSpc>
                <a:spcPct val="150000"/>
              </a:lnSpc>
            </a:pPr>
            <a:r>
              <a:rPr sz="1400" b="0" i="0">
                <a:solidFill>
                  <a:srgbClr val="D8D2C8"/>
                </a:solidFill>
                <a:latin typeface="DM Sans"/>
              </a:rPr>
              <a:t>Not a separate letter to County. Not a budget commitment. CAPS standing alongside Altadena Village, CoLab, Alting, and Altagether in saying this is how community engagement should work. That weight helps move EIFD toward an earmark for the engagement infrastructure.</a:t>
            </a:r>
          </a:p>
        </p:txBody>
      </p:sp>
      <p:cxnSp>
        <p:nvCxnSpPr>
          <p:cNvPr id="5" name="Connector 4"/>
          <p:cNvCxnSpPr/>
          <p:nvPr/>
        </p:nvCxnSpPr>
        <p:spPr>
          <a:xfrm>
            <a:off x="640080" y="5349240"/>
            <a:ext cx="10908792" cy="0"/>
          </a:xfrm>
          <a:prstGeom prst="line">
            <a:avLst/>
          </a:prstGeom>
          <a:ln w="6350">
            <a:solidFill>
              <a:srgbClr val="4A5A4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5486400"/>
            <a:ext cx="10972800" cy="228600"/>
          </a:xfrm>
          <a:prstGeom prst="rect">
            <a:avLst/>
          </a:prstGeom>
          <a:noFill/>
        </p:spPr>
        <p:txBody>
          <a:bodyPr wrap="square" lIns="0" rIns="0" tIns="0" bIns="0">
            <a:spAutoFit/>
          </a:bodyPr>
          <a:lstStyle/>
          <a:p>
            <a:pPr>
              <a:lnSpc>
                <a:spcPct val="120000"/>
              </a:lnSpc>
            </a:pPr>
            <a:r>
              <a:rPr sz="1000" b="1" i="0">
                <a:solidFill>
                  <a:srgbClr val="E5905A"/>
                </a:solidFill>
                <a:latin typeface="DM Sans"/>
              </a:rPr>
              <a:t>WHAT ENDORSEMENT ENABLES NEXT</a:t>
            </a:r>
          </a:p>
        </p:txBody>
      </p:sp>
      <p:sp>
        <p:nvSpPr>
          <p:cNvPr id="7" name="TextBox 6"/>
          <p:cNvSpPr txBox="1"/>
          <p:nvPr/>
        </p:nvSpPr>
        <p:spPr>
          <a:xfrm>
            <a:off x="640080" y="5760720"/>
            <a:ext cx="10972800" cy="548640"/>
          </a:xfrm>
          <a:prstGeom prst="rect">
            <a:avLst/>
          </a:prstGeom>
          <a:noFill/>
        </p:spPr>
        <p:txBody>
          <a:bodyPr wrap="square" lIns="0" rIns="0" tIns="0" bIns="0">
            <a:spAutoFit/>
          </a:bodyPr>
          <a:lstStyle/>
          <a:p>
            <a:pPr>
              <a:lnSpc>
                <a:spcPct val="140000"/>
              </a:lnSpc>
            </a:pPr>
            <a:r>
              <a:rPr sz="1200" b="0" i="0">
                <a:solidFill>
                  <a:srgbClr val="D8D2C8"/>
                </a:solidFill>
                <a:latin typeface="DM Sans"/>
              </a:rPr>
              <a:t>Joint visibility at PFA hearings  ·  your co-signature on the Fair Oaks pilot framing  ·  a credible voice when this lands at ATC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